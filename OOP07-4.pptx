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compatMode="1" saveSubsetFonts="1">
  <p:sldMasterIdLst>
    <p:sldMasterId id="2147483655" r:id="rId1"/>
  </p:sldMasterIdLst>
  <p:notesMasterIdLst>
    <p:notesMasterId r:id="rId14"/>
  </p:notesMasterIdLst>
  <p:sldIdLst>
    <p:sldId id="256" r:id="rId2"/>
    <p:sldId id="326" r:id="rId3"/>
    <p:sldId id="425" r:id="rId4"/>
    <p:sldId id="426" r:id="rId5"/>
    <p:sldId id="418" r:id="rId6"/>
    <p:sldId id="406" r:id="rId7"/>
    <p:sldId id="419" r:id="rId8"/>
    <p:sldId id="420" r:id="rId9"/>
    <p:sldId id="421" r:id="rId10"/>
    <p:sldId id="422" r:id="rId11"/>
    <p:sldId id="423" r:id="rId12"/>
    <p:sldId id="424" r:id="rId13"/>
  </p:sldIdLst>
  <p:sldSz cx="9144000" cy="6858000" type="screen4x3"/>
  <p:notesSz cx="6858000" cy="91440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552" autoAdjust="0"/>
    <p:restoredTop sz="94694"/>
  </p:normalViewPr>
  <p:slideViewPr>
    <p:cSldViewPr>
      <p:cViewPr varScale="1">
        <p:scale>
          <a:sx n="121" d="100"/>
          <a:sy n="121" d="100"/>
        </p:scale>
        <p:origin x="120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B93684D4-D585-504C-A3AC-9E09BA8B157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D0F462A-00D9-48F1-8BDC-4813E61F3597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465193CB-4F0D-1143-9D4B-D63197526CB0}" type="datetimeFigureOut">
              <a:rPr lang="ko-KR" altLang="en-US"/>
              <a:pPr>
                <a:defRPr/>
              </a:pPr>
              <a:t>2024. 11. 19.</a:t>
            </a:fld>
            <a:endParaRPr lang="ko-KR" altLang="en-US"/>
          </a:p>
        </p:txBody>
      </p:sp>
      <p:sp>
        <p:nvSpPr>
          <p:cNvPr id="4" name="슬라이드 이미지 개체 틀 3">
            <a:extLst>
              <a:ext uri="{FF2B5EF4-FFF2-40B4-BE49-F238E27FC236}">
                <a16:creationId xmlns:a16="http://schemas.microsoft.com/office/drawing/2014/main" id="{DBF8B313-ADB1-F578-471E-F4FD7238E9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>
            <a:extLst>
              <a:ext uri="{FF2B5EF4-FFF2-40B4-BE49-F238E27FC236}">
                <a16:creationId xmlns:a16="http://schemas.microsoft.com/office/drawing/2014/main" id="{0EEA8657-D2D4-C0ED-BDC6-73EC6B6195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AAD2929-70BB-FE88-C858-40E07D3E270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E2D8C75-6400-C43E-EF15-A445999AFD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0083838-BF68-244A-AC59-F54EDD7170B0}" type="slidenum">
              <a:rPr lang="ko-KR" altLang="en-US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2E7EADF-C01D-9CDC-8BE4-905C91D31A21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8763" cy="6858000"/>
            <a:chOff x="0" y="0"/>
            <a:chExt cx="5763" cy="4320"/>
          </a:xfrm>
        </p:grpSpPr>
        <p:sp>
          <p:nvSpPr>
            <p:cNvPr id="3" name="Rectangle 3">
              <a:extLst>
                <a:ext uri="{FF2B5EF4-FFF2-40B4-BE49-F238E27FC236}">
                  <a16:creationId xmlns:a16="http://schemas.microsoft.com/office/drawing/2014/main" id="{B9A22C82-18C9-E3C2-49C4-B73C33F35D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499" cy="195"/>
            </a:xfrm>
            <a:prstGeom prst="rect">
              <a:avLst/>
            </a:prstGeom>
            <a:solidFill>
              <a:schemeClr val="accent1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C29EC4FC-7615-DC84-B168-F5E178A300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4223"/>
              <a:ext cx="4080" cy="97"/>
            </a:xfrm>
            <a:prstGeom prst="rect">
              <a:avLst/>
            </a:prstGeom>
            <a:gradFill rotWithShape="0">
              <a:gsLst>
                <a:gs pos="0">
                  <a:schemeClr val="hlink"/>
                </a:gs>
                <a:gs pos="100000">
                  <a:schemeClr val="accent1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954F3CDE-F138-1855-416F-8457418FD9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1248"/>
              <a:ext cx="240" cy="2688"/>
            </a:xfrm>
            <a:prstGeom prst="rect">
              <a:avLst/>
            </a:prstGeom>
            <a:gradFill rotWithShape="0">
              <a:gsLst>
                <a:gs pos="0">
                  <a:schemeClr val="accent2">
                    <a:gamma/>
                    <a:tint val="0"/>
                    <a:invGamma/>
                  </a:schemeClr>
                </a:gs>
                <a:gs pos="100000">
                  <a:schemeClr val="accent2"/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4E4EAC95-EF16-B2EC-C3E1-3AB66FE52F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312"/>
              <a:ext cx="243" cy="96"/>
            </a:xfrm>
            <a:prstGeom prst="rect">
              <a:avLst/>
            </a:prstGeom>
            <a:solidFill>
              <a:schemeClr val="hlink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D6A50B50-0371-1A4F-E180-2EC26F881C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417"/>
              <a:ext cx="243" cy="903"/>
            </a:xfrm>
            <a:prstGeom prst="rect">
              <a:avLst/>
            </a:prstGeom>
            <a:solidFill>
              <a:srgbClr val="DDDDDD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C1CC3865-C318-4A08-78C3-71881CF23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0"/>
              <a:ext cx="240" cy="1248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9" name="Rectangle 9">
              <a:extLst>
                <a:ext uri="{FF2B5EF4-FFF2-40B4-BE49-F238E27FC236}">
                  <a16:creationId xmlns:a16="http://schemas.microsoft.com/office/drawing/2014/main" id="{48FCA7E6-6467-1E9B-D00B-55E4C9896A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0"/>
              <a:ext cx="1920" cy="192"/>
            </a:xfrm>
            <a:prstGeom prst="rect">
              <a:avLst/>
            </a:prstGeom>
            <a:gradFill rotWithShape="0">
              <a:gsLst>
                <a:gs pos="0">
                  <a:schemeClr val="folHlink">
                    <a:gamma/>
                    <a:tint val="33725"/>
                    <a:invGamma/>
                  </a:schemeClr>
                </a:gs>
                <a:gs pos="100000">
                  <a:schemeClr val="folHlink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9015A556-A0B2-AD0B-AA4F-AD204F1582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" y="188"/>
              <a:ext cx="243" cy="47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1" name="Rectangle 11">
              <a:extLst>
                <a:ext uri="{FF2B5EF4-FFF2-40B4-BE49-F238E27FC236}">
                  <a16:creationId xmlns:a16="http://schemas.microsoft.com/office/drawing/2014/main" id="{8759D885-6C01-23B3-9EFE-9B5AEE1651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664"/>
              <a:ext cx="243" cy="2637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folHlink">
                    <a:gamma/>
                    <a:tint val="0"/>
                    <a:invGamma/>
                  </a:schemeClr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2" name="Rectangle 12">
              <a:extLst>
                <a:ext uri="{FF2B5EF4-FFF2-40B4-BE49-F238E27FC236}">
                  <a16:creationId xmlns:a16="http://schemas.microsoft.com/office/drawing/2014/main" id="{EBE526FF-66DB-84A0-F201-39E92A2C617D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" y="188"/>
              <a:ext cx="243" cy="472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3" name="Rectangle 13">
              <a:extLst>
                <a:ext uri="{FF2B5EF4-FFF2-40B4-BE49-F238E27FC236}">
                  <a16:creationId xmlns:a16="http://schemas.microsoft.com/office/drawing/2014/main" id="{AED05470-375F-53A7-2190-DEAB22145427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95" y="0"/>
              <a:ext cx="3105" cy="186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4" name="Line 14">
              <a:extLst>
                <a:ext uri="{FF2B5EF4-FFF2-40B4-BE49-F238E27FC236}">
                  <a16:creationId xmlns:a16="http://schemas.microsoft.com/office/drawing/2014/main" id="{1C491309-52FE-1FE0-DFE1-B2FE14F0EEE8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254" y="192"/>
              <a:ext cx="0" cy="4128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5" name="Line 15">
              <a:extLst>
                <a:ext uri="{FF2B5EF4-FFF2-40B4-BE49-F238E27FC236}">
                  <a16:creationId xmlns:a16="http://schemas.microsoft.com/office/drawing/2014/main" id="{68C1EBAA-40B8-55DD-D150-8671E7CB140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254" y="4224"/>
              <a:ext cx="5509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6" name="Line 16">
              <a:extLst>
                <a:ext uri="{FF2B5EF4-FFF2-40B4-BE49-F238E27FC236}">
                  <a16:creationId xmlns:a16="http://schemas.microsoft.com/office/drawing/2014/main" id="{E7B4D0A1-75FF-7FC8-48C4-0A257C55AA03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5520" y="0"/>
              <a:ext cx="0" cy="4224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7" name="Line 17">
              <a:extLst>
                <a:ext uri="{FF2B5EF4-FFF2-40B4-BE49-F238E27FC236}">
                  <a16:creationId xmlns:a16="http://schemas.microsoft.com/office/drawing/2014/main" id="{70BD897E-0316-E94B-E3AC-95786D35502C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0" y="200"/>
              <a:ext cx="5760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8" name="Line 18">
              <a:extLst>
                <a:ext uri="{FF2B5EF4-FFF2-40B4-BE49-F238E27FC236}">
                  <a16:creationId xmlns:a16="http://schemas.microsoft.com/office/drawing/2014/main" id="{0F952985-B931-2017-C285-DBEEE09C582C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3601" y="279"/>
              <a:ext cx="216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9" name="Line 19">
              <a:extLst>
                <a:ext uri="{FF2B5EF4-FFF2-40B4-BE49-F238E27FC236}">
                  <a16:creationId xmlns:a16="http://schemas.microsoft.com/office/drawing/2014/main" id="{648670AA-DD2C-1C83-7296-639E5BF10F94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3600" y="0"/>
              <a:ext cx="0" cy="288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0" name="Line 20">
              <a:extLst>
                <a:ext uri="{FF2B5EF4-FFF2-40B4-BE49-F238E27FC236}">
                  <a16:creationId xmlns:a16="http://schemas.microsoft.com/office/drawing/2014/main" id="{25C910DF-9CFD-C281-B3FC-1C25850C40F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520" y="1248"/>
              <a:ext cx="24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1" name="Line 21">
              <a:extLst>
                <a:ext uri="{FF2B5EF4-FFF2-40B4-BE49-F238E27FC236}">
                  <a16:creationId xmlns:a16="http://schemas.microsoft.com/office/drawing/2014/main" id="{B747D072-60AC-E1A5-508A-C72CAEC07A1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7" y="0"/>
              <a:ext cx="0" cy="672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2" name="Line 22">
              <a:extLst>
                <a:ext uri="{FF2B5EF4-FFF2-40B4-BE49-F238E27FC236}">
                  <a16:creationId xmlns:a16="http://schemas.microsoft.com/office/drawing/2014/main" id="{42123C1E-0961-BE8B-CB09-0BBAEA33AAD4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 flipV="1">
              <a:off x="0" y="660"/>
              <a:ext cx="495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3" name="Line 23">
              <a:extLst>
                <a:ext uri="{FF2B5EF4-FFF2-40B4-BE49-F238E27FC236}">
                  <a16:creationId xmlns:a16="http://schemas.microsoft.com/office/drawing/2014/main" id="{CFFB2CD5-168B-E5CC-525D-78EA06B41A6E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1673" y="3929"/>
              <a:ext cx="0" cy="39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4" name="Line 24">
              <a:extLst>
                <a:ext uri="{FF2B5EF4-FFF2-40B4-BE49-F238E27FC236}">
                  <a16:creationId xmlns:a16="http://schemas.microsoft.com/office/drawing/2014/main" id="{67651698-2A73-C647-F2E1-15C50096C6AD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664" y="3932"/>
              <a:ext cx="4096" cy="3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5" name="Line 25">
              <a:extLst>
                <a:ext uri="{FF2B5EF4-FFF2-40B4-BE49-F238E27FC236}">
                  <a16:creationId xmlns:a16="http://schemas.microsoft.com/office/drawing/2014/main" id="{508B08DF-34F7-DC0C-9E9E-3486B89A23AD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312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6" name="Line 26">
              <a:extLst>
                <a:ext uri="{FF2B5EF4-FFF2-40B4-BE49-F238E27FC236}">
                  <a16:creationId xmlns:a16="http://schemas.microsoft.com/office/drawing/2014/main" id="{749C2900-FFC1-556A-AC99-F933CB8A3952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408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</p:grpSp>
      <p:sp>
        <p:nvSpPr>
          <p:cNvPr id="11291" name="Rectangle 27"/>
          <p:cNvSpPr>
            <a:spLocks noGrp="1" noChangeArrowheads="1"/>
          </p:cNvSpPr>
          <p:nvPr>
            <p:ph type="ctrTitle" sz="quarter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11292" name="Rectangle 28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2800"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6BF2F626-95A3-A64F-E1FF-509EFB903F5A}"/>
              </a:ext>
            </a:extLst>
          </p:cNvPr>
          <p:cNvSpPr>
            <a:spLocks noGrp="1" noChangeArrowheads="1"/>
          </p:cNvSpPr>
          <p:nvPr>
            <p:ph type="dt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8" name="Rectangle 30">
            <a:extLst>
              <a:ext uri="{FF2B5EF4-FFF2-40B4-BE49-F238E27FC236}">
                <a16:creationId xmlns:a16="http://schemas.microsoft.com/office/drawing/2014/main" id="{158E99F0-F290-CB71-BA57-9ADEBBC7A4C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9" name="Rectangle 31">
            <a:extLst>
              <a:ext uri="{FF2B5EF4-FFF2-40B4-BE49-F238E27FC236}">
                <a16:creationId xmlns:a16="http://schemas.microsoft.com/office/drawing/2014/main" id="{8091F84D-7FC9-6CED-0DBC-7B38AFCC967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04D39E1-F6D3-314E-88D7-7306CCE7F323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784496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63FCA5B0-DA25-8BB5-EFF0-FFFD3890D1B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E2FA5D06-6C8C-1BD7-4350-091AC24330C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C140236B-FD49-382E-FABD-7A4950975D0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1A051F8-45B1-9748-B600-DEA9D819373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7793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FA964A02-2C6F-B889-D241-871A62CAC26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64561F07-AC6B-48F4-C2CA-ADAFD7340AB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3F5C0915-934D-9A73-6580-6FA5B605D5C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CBC7D8A-8CC6-5849-A5B6-F79DD04CB7F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09289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110E2753-D580-A354-86CA-522FEA8BB2E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5A405ADF-92B6-6E3E-2484-FDC76193CF3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DF3CA3BD-933E-E2EE-5854-BE5FA5494D6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C1B7759-DBCB-C94D-A546-807533C7A97D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649313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29">
            <a:extLst>
              <a:ext uri="{FF2B5EF4-FFF2-40B4-BE49-F238E27FC236}">
                <a16:creationId xmlns:a16="http://schemas.microsoft.com/office/drawing/2014/main" id="{FB53EE93-0952-CDFA-37B6-CFB86EB483E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" name="Rectangle 30">
            <a:extLst>
              <a:ext uri="{FF2B5EF4-FFF2-40B4-BE49-F238E27FC236}">
                <a16:creationId xmlns:a16="http://schemas.microsoft.com/office/drawing/2014/main" id="{CC673D72-E4EE-70F8-47F1-5E99E12D300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9" name="Rectangle 31">
            <a:extLst>
              <a:ext uri="{FF2B5EF4-FFF2-40B4-BE49-F238E27FC236}">
                <a16:creationId xmlns:a16="http://schemas.microsoft.com/office/drawing/2014/main" id="{49CCFDB5-49A6-65F3-399B-819EF0F28EF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81AC0B3-2ED0-8943-A806-1D4A0167BE53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558561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29">
            <a:extLst>
              <a:ext uri="{FF2B5EF4-FFF2-40B4-BE49-F238E27FC236}">
                <a16:creationId xmlns:a16="http://schemas.microsoft.com/office/drawing/2014/main" id="{71C559C6-ECC0-A30A-9C50-EF520F90F48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" name="Rectangle 30">
            <a:extLst>
              <a:ext uri="{FF2B5EF4-FFF2-40B4-BE49-F238E27FC236}">
                <a16:creationId xmlns:a16="http://schemas.microsoft.com/office/drawing/2014/main" id="{49183CE7-99EE-59AF-1661-CB6B93E8C04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1">
            <a:extLst>
              <a:ext uri="{FF2B5EF4-FFF2-40B4-BE49-F238E27FC236}">
                <a16:creationId xmlns:a16="http://schemas.microsoft.com/office/drawing/2014/main" id="{51FB10DE-9742-A40A-8097-22FDAA875A4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C70A069-EEE8-B54B-A485-6F7D1CC259F9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5554052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9">
            <a:extLst>
              <a:ext uri="{FF2B5EF4-FFF2-40B4-BE49-F238E27FC236}">
                <a16:creationId xmlns:a16="http://schemas.microsoft.com/office/drawing/2014/main" id="{2C3F395C-2DC5-3295-BDAA-BA1E8FCB2B3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Rectangle 30">
            <a:extLst>
              <a:ext uri="{FF2B5EF4-FFF2-40B4-BE49-F238E27FC236}">
                <a16:creationId xmlns:a16="http://schemas.microsoft.com/office/drawing/2014/main" id="{938B5FFF-40F8-0A42-FCB8-84D4685E2C0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" name="Rectangle 31">
            <a:extLst>
              <a:ext uri="{FF2B5EF4-FFF2-40B4-BE49-F238E27FC236}">
                <a16:creationId xmlns:a16="http://schemas.microsoft.com/office/drawing/2014/main" id="{1A319CD1-0435-3B31-5CA8-C71E0729B8A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A488BC6-C9BA-2E42-8C51-BA26954A0D4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16259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D64D404E-B16B-E4FF-45DD-837468BF0FB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C1977B25-469A-39E7-24BC-EAB038C62A6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49157D48-CC59-81BA-89F7-9B04D3EC742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022C686-226A-DA47-828F-7331E0C6DC99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46501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C9D6F3FD-90BD-E891-2570-80AFAF78B93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B8170C26-5E6F-2003-3E06-BACFA0DCCB2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2AEF5D21-2322-34B5-7829-EC14DF2D458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057CC39-3897-A44E-9F64-F794E092812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445198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C32766A1-9075-E3EB-8CCC-76406C7A0E6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EDE469A2-C6E6-919E-08BE-5C171151E63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9F959C98-DD20-1FBA-4123-0BB7AC38A9A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9FC59C9-4DE4-B846-96F1-E4DB2292FA3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382254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9D160CF1-9CC8-5910-9E7D-082E10BAE49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964DA060-585B-2F82-7760-176D554C448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A684993B-EBBB-80BB-E148-A9F88F3808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E0EEB6B-D10E-6A44-B3F3-E6125ACEA05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790647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21086599-3EBD-EDC8-416A-5B1E3EFF160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DCB6A362-551C-D352-9803-DC36BBB319A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0ADD47FD-C653-CEA0-0EA2-98A2B21B87D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0784D44-17CE-6C4C-A803-F2218A13FD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96127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chemeClr val="bg1"/>
            </a:gs>
            <a:gs pos="100000">
              <a:srgbClr val="FFFFF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2">
            <a:extLst>
              <a:ext uri="{FF2B5EF4-FFF2-40B4-BE49-F238E27FC236}">
                <a16:creationId xmlns:a16="http://schemas.microsoft.com/office/drawing/2014/main" id="{8A9B0035-7E8E-DD27-508C-052BF12BA3D7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8763" cy="6858000"/>
            <a:chOff x="0" y="0"/>
            <a:chExt cx="5763" cy="4320"/>
          </a:xfrm>
        </p:grpSpPr>
        <p:sp>
          <p:nvSpPr>
            <p:cNvPr id="10243" name="Rectangle 3">
              <a:extLst>
                <a:ext uri="{FF2B5EF4-FFF2-40B4-BE49-F238E27FC236}">
                  <a16:creationId xmlns:a16="http://schemas.microsoft.com/office/drawing/2014/main" id="{33743EFF-15F6-C0BB-399E-928B87E5FC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499" cy="195"/>
            </a:xfrm>
            <a:prstGeom prst="rect">
              <a:avLst/>
            </a:prstGeom>
            <a:solidFill>
              <a:schemeClr val="accent1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4" name="Rectangle 4">
              <a:extLst>
                <a:ext uri="{FF2B5EF4-FFF2-40B4-BE49-F238E27FC236}">
                  <a16:creationId xmlns:a16="http://schemas.microsoft.com/office/drawing/2014/main" id="{9C761259-473E-0919-45E4-3D5464657A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4223"/>
              <a:ext cx="4080" cy="97"/>
            </a:xfrm>
            <a:prstGeom prst="rect">
              <a:avLst/>
            </a:prstGeom>
            <a:gradFill rotWithShape="0">
              <a:gsLst>
                <a:gs pos="0">
                  <a:schemeClr val="hlink"/>
                </a:gs>
                <a:gs pos="100000">
                  <a:schemeClr val="accent1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5" name="Rectangle 5">
              <a:extLst>
                <a:ext uri="{FF2B5EF4-FFF2-40B4-BE49-F238E27FC236}">
                  <a16:creationId xmlns:a16="http://schemas.microsoft.com/office/drawing/2014/main" id="{88CD8694-0B4D-C2E4-8602-D924FAAE90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1248"/>
              <a:ext cx="240" cy="2688"/>
            </a:xfrm>
            <a:prstGeom prst="rect">
              <a:avLst/>
            </a:prstGeom>
            <a:gradFill rotWithShape="0">
              <a:gsLst>
                <a:gs pos="0">
                  <a:schemeClr val="accent2">
                    <a:gamma/>
                    <a:tint val="0"/>
                    <a:invGamma/>
                  </a:schemeClr>
                </a:gs>
                <a:gs pos="100000">
                  <a:schemeClr val="accent2"/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6" name="Rectangle 6">
              <a:extLst>
                <a:ext uri="{FF2B5EF4-FFF2-40B4-BE49-F238E27FC236}">
                  <a16:creationId xmlns:a16="http://schemas.microsoft.com/office/drawing/2014/main" id="{BFC24B5E-1079-32AF-512E-C482447E71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312"/>
              <a:ext cx="243" cy="96"/>
            </a:xfrm>
            <a:prstGeom prst="rect">
              <a:avLst/>
            </a:prstGeom>
            <a:solidFill>
              <a:schemeClr val="hlink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7" name="Rectangle 7">
              <a:extLst>
                <a:ext uri="{FF2B5EF4-FFF2-40B4-BE49-F238E27FC236}">
                  <a16:creationId xmlns:a16="http://schemas.microsoft.com/office/drawing/2014/main" id="{EC74A9B7-61B4-F960-DE3D-A1FD3227EB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417"/>
              <a:ext cx="243" cy="903"/>
            </a:xfrm>
            <a:prstGeom prst="rect">
              <a:avLst/>
            </a:prstGeom>
            <a:solidFill>
              <a:srgbClr val="DDDDDD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8" name="Rectangle 8">
              <a:extLst>
                <a:ext uri="{FF2B5EF4-FFF2-40B4-BE49-F238E27FC236}">
                  <a16:creationId xmlns:a16="http://schemas.microsoft.com/office/drawing/2014/main" id="{9A304234-D1A6-318B-DC3C-859220DE17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0"/>
              <a:ext cx="240" cy="1248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9" name="Rectangle 9">
              <a:extLst>
                <a:ext uri="{FF2B5EF4-FFF2-40B4-BE49-F238E27FC236}">
                  <a16:creationId xmlns:a16="http://schemas.microsoft.com/office/drawing/2014/main" id="{5A0DDF62-6F1B-0399-F57E-98C9EEA1CD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0"/>
              <a:ext cx="1920" cy="192"/>
            </a:xfrm>
            <a:prstGeom prst="rect">
              <a:avLst/>
            </a:prstGeom>
            <a:gradFill rotWithShape="0">
              <a:gsLst>
                <a:gs pos="0">
                  <a:schemeClr val="folHlink">
                    <a:gamma/>
                    <a:tint val="33725"/>
                    <a:invGamma/>
                  </a:schemeClr>
                </a:gs>
                <a:gs pos="100000">
                  <a:schemeClr val="folHlink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50" name="Rectangle 10">
              <a:extLst>
                <a:ext uri="{FF2B5EF4-FFF2-40B4-BE49-F238E27FC236}">
                  <a16:creationId xmlns:a16="http://schemas.microsoft.com/office/drawing/2014/main" id="{71F9F8BA-6A69-654A-0647-47D7D3E7D1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" y="188"/>
              <a:ext cx="243" cy="47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51" name="Rectangle 11">
              <a:extLst>
                <a:ext uri="{FF2B5EF4-FFF2-40B4-BE49-F238E27FC236}">
                  <a16:creationId xmlns:a16="http://schemas.microsoft.com/office/drawing/2014/main" id="{1F1C0A15-52E7-B9A9-6872-07C612C14D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664"/>
              <a:ext cx="243" cy="2637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folHlink">
                    <a:gamma/>
                    <a:tint val="0"/>
                    <a:invGamma/>
                  </a:schemeClr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52" name="Rectangle 12">
              <a:extLst>
                <a:ext uri="{FF2B5EF4-FFF2-40B4-BE49-F238E27FC236}">
                  <a16:creationId xmlns:a16="http://schemas.microsoft.com/office/drawing/2014/main" id="{FE0FF93F-C85E-4E83-A665-701FD0D22FD1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" y="188"/>
              <a:ext cx="243" cy="472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53" name="Rectangle 13">
              <a:extLst>
                <a:ext uri="{FF2B5EF4-FFF2-40B4-BE49-F238E27FC236}">
                  <a16:creationId xmlns:a16="http://schemas.microsoft.com/office/drawing/2014/main" id="{DE63DC60-BBC2-F7B3-DF26-F0054893F498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95" y="0"/>
              <a:ext cx="3105" cy="186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54" name="Line 14">
              <a:extLst>
                <a:ext uri="{FF2B5EF4-FFF2-40B4-BE49-F238E27FC236}">
                  <a16:creationId xmlns:a16="http://schemas.microsoft.com/office/drawing/2014/main" id="{6D9FD889-63FB-53AF-B971-AB1DBD00DD13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254" y="192"/>
              <a:ext cx="0" cy="4128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55" name="Line 15">
              <a:extLst>
                <a:ext uri="{FF2B5EF4-FFF2-40B4-BE49-F238E27FC236}">
                  <a16:creationId xmlns:a16="http://schemas.microsoft.com/office/drawing/2014/main" id="{3C2B313A-DC1B-59F1-5DE0-14F3BE42541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254" y="4224"/>
              <a:ext cx="5509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56" name="Line 16">
              <a:extLst>
                <a:ext uri="{FF2B5EF4-FFF2-40B4-BE49-F238E27FC236}">
                  <a16:creationId xmlns:a16="http://schemas.microsoft.com/office/drawing/2014/main" id="{B1D322E1-CE98-2BE4-A6CB-5A738897634B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5520" y="0"/>
              <a:ext cx="0" cy="4224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57" name="Line 17">
              <a:extLst>
                <a:ext uri="{FF2B5EF4-FFF2-40B4-BE49-F238E27FC236}">
                  <a16:creationId xmlns:a16="http://schemas.microsoft.com/office/drawing/2014/main" id="{C90C9C82-4600-AAC3-98FC-C6B135D24096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0" y="200"/>
              <a:ext cx="5760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58" name="Line 18">
              <a:extLst>
                <a:ext uri="{FF2B5EF4-FFF2-40B4-BE49-F238E27FC236}">
                  <a16:creationId xmlns:a16="http://schemas.microsoft.com/office/drawing/2014/main" id="{F4B045C8-F95D-DE2B-080C-E1F797F12CF9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3601" y="279"/>
              <a:ext cx="216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59" name="Line 19">
              <a:extLst>
                <a:ext uri="{FF2B5EF4-FFF2-40B4-BE49-F238E27FC236}">
                  <a16:creationId xmlns:a16="http://schemas.microsoft.com/office/drawing/2014/main" id="{1C85318E-5284-87DC-7BDB-2A714A269635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3600" y="0"/>
              <a:ext cx="0" cy="288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0" name="Line 20">
              <a:extLst>
                <a:ext uri="{FF2B5EF4-FFF2-40B4-BE49-F238E27FC236}">
                  <a16:creationId xmlns:a16="http://schemas.microsoft.com/office/drawing/2014/main" id="{435B9E73-C5F3-6B07-88BE-82634782ACC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520" y="1248"/>
              <a:ext cx="24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1" name="Line 21">
              <a:extLst>
                <a:ext uri="{FF2B5EF4-FFF2-40B4-BE49-F238E27FC236}">
                  <a16:creationId xmlns:a16="http://schemas.microsoft.com/office/drawing/2014/main" id="{E34E06B4-DF61-6F6F-0209-EC0DBDDFE6E3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7" y="0"/>
              <a:ext cx="0" cy="672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2" name="Line 22">
              <a:extLst>
                <a:ext uri="{FF2B5EF4-FFF2-40B4-BE49-F238E27FC236}">
                  <a16:creationId xmlns:a16="http://schemas.microsoft.com/office/drawing/2014/main" id="{7BB8BFFD-5B9F-7541-4534-2597C885D825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 flipV="1">
              <a:off x="0" y="660"/>
              <a:ext cx="495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3" name="Line 23">
              <a:extLst>
                <a:ext uri="{FF2B5EF4-FFF2-40B4-BE49-F238E27FC236}">
                  <a16:creationId xmlns:a16="http://schemas.microsoft.com/office/drawing/2014/main" id="{5F4649C7-AA56-9B6F-681E-6F294F3668E2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1673" y="3929"/>
              <a:ext cx="0" cy="39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4" name="Line 24">
              <a:extLst>
                <a:ext uri="{FF2B5EF4-FFF2-40B4-BE49-F238E27FC236}">
                  <a16:creationId xmlns:a16="http://schemas.microsoft.com/office/drawing/2014/main" id="{0D7D4B50-E2FE-2D9B-E870-4A7B78CEFBCF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664" y="3932"/>
              <a:ext cx="4096" cy="3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5" name="Line 25">
              <a:extLst>
                <a:ext uri="{FF2B5EF4-FFF2-40B4-BE49-F238E27FC236}">
                  <a16:creationId xmlns:a16="http://schemas.microsoft.com/office/drawing/2014/main" id="{3B9E6148-83D6-7BE8-1AC2-4F6D021AC0DD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312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6" name="Line 26">
              <a:extLst>
                <a:ext uri="{FF2B5EF4-FFF2-40B4-BE49-F238E27FC236}">
                  <a16:creationId xmlns:a16="http://schemas.microsoft.com/office/drawing/2014/main" id="{86DFDED2-A95A-2722-FE65-CD9B780E95C1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408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</p:grpSp>
      <p:sp>
        <p:nvSpPr>
          <p:cNvPr id="1027" name="Rectangle 27">
            <a:extLst>
              <a:ext uri="{FF2B5EF4-FFF2-40B4-BE49-F238E27FC236}">
                <a16:creationId xmlns:a16="http://schemas.microsoft.com/office/drawing/2014/main" id="{A06F5853-807F-04A1-8AA9-A31B4FB6C23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28">
            <a:extLst>
              <a:ext uri="{FF2B5EF4-FFF2-40B4-BE49-F238E27FC236}">
                <a16:creationId xmlns:a16="http://schemas.microsoft.com/office/drawing/2014/main" id="{DE2DEB95-9506-82D2-8E69-0B8CE6442C6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269" name="Rectangle 29">
            <a:extLst>
              <a:ext uri="{FF2B5EF4-FFF2-40B4-BE49-F238E27FC236}">
                <a16:creationId xmlns:a16="http://schemas.microsoft.com/office/drawing/2014/main" id="{D0632A8D-CD9C-1863-ABD1-6B526F4D570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4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270" name="Rectangle 30">
            <a:extLst>
              <a:ext uri="{FF2B5EF4-FFF2-40B4-BE49-F238E27FC236}">
                <a16:creationId xmlns:a16="http://schemas.microsoft.com/office/drawing/2014/main" id="{F530D2B4-883D-6100-D6A3-D4815D52FD7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4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271" name="Rectangle 31">
            <a:extLst>
              <a:ext uri="{FF2B5EF4-FFF2-40B4-BE49-F238E27FC236}">
                <a16:creationId xmlns:a16="http://schemas.microsoft.com/office/drawing/2014/main" id="{EE42675B-9F87-03EC-2D3E-E259CA6623F5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1400"/>
            </a:lvl1pPr>
          </a:lstStyle>
          <a:p>
            <a:fld id="{89607F10-3CEE-944F-813D-B858DD273C62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70" r:id="rId1"/>
    <p:sldLayoutId id="2147484059" r:id="rId2"/>
    <p:sldLayoutId id="2147484060" r:id="rId3"/>
    <p:sldLayoutId id="2147484061" r:id="rId4"/>
    <p:sldLayoutId id="2147484062" r:id="rId5"/>
    <p:sldLayoutId id="2147484063" r:id="rId6"/>
    <p:sldLayoutId id="2147484064" r:id="rId7"/>
    <p:sldLayoutId id="2147484065" r:id="rId8"/>
    <p:sldLayoutId id="2147484066" r:id="rId9"/>
    <p:sldLayoutId id="2147484067" r:id="rId10"/>
    <p:sldLayoutId id="2147484068" r:id="rId11"/>
    <p:sldLayoutId id="2147484069" r:id="rId12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9pPr>
    </p:titleStyle>
    <p:bodyStyle>
      <a:lvl1pPr marL="342900" indent="-342900" algn="l" rtl="0" eaLnBrk="0" fontAlgn="t" latinLnBrk="1" hangingPunct="0">
        <a:spcBef>
          <a:spcPct val="20000"/>
        </a:spcBef>
        <a:spcAft>
          <a:spcPct val="0"/>
        </a:spcAft>
        <a:buClr>
          <a:schemeClr val="hlink"/>
        </a:buClr>
        <a:buSzPct val="80000"/>
        <a:buFont typeface="Wingdings" pitchFamily="2" charset="2"/>
        <a:buChar char="n"/>
        <a:defRPr kumimoji="1" sz="3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t" latinLnBrk="1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n"/>
        <a:defRPr kumimoji="1" sz="26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n"/>
        <a:defRPr kumimoji="1" sz="23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CA428526-B16C-1127-929B-C238595ADF15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886700" cy="1143000"/>
          </a:xfrm>
        </p:spPr>
        <p:txBody>
          <a:bodyPr/>
          <a:lstStyle/>
          <a:p>
            <a:pPr eaLnBrk="1" hangingPunct="1"/>
            <a:r>
              <a:rPr lang="en-US" altLang="ko-KR" sz="3200" b="1" dirty="0"/>
              <a:t>Lecture 7-4: </a:t>
            </a:r>
            <a:br>
              <a:rPr lang="en-US" altLang="ko-KR" sz="3200" b="1" dirty="0"/>
            </a:br>
            <a:r>
              <a:rPr lang="en-US" altLang="ko-KR" sz="3200" b="1" dirty="0"/>
              <a:t>Miscellaneous Concepts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제목 1">
            <a:extLst>
              <a:ext uri="{FF2B5EF4-FFF2-40B4-BE49-F238E27FC236}">
                <a16:creationId xmlns:a16="http://schemas.microsoft.com/office/drawing/2014/main" id="{4040C14C-A6F8-7BDB-F2BB-34BDC6E41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/>
          <a:p>
            <a:r>
              <a:rPr lang="en-US" altLang="ko-KR" b="1" u="sng" dirty="0">
                <a:cs typeface="Courier New" panose="02070309020205020404" pitchFamily="49" charset="0"/>
              </a:rPr>
              <a:t>Functor</a:t>
            </a:r>
            <a:endParaRPr lang="ko-KR" altLang="en-US" b="1" u="sng" dirty="0">
              <a:cs typeface="Courier New" panose="02070309020205020404" pitchFamily="49" charset="0"/>
            </a:endParaRPr>
          </a:p>
        </p:txBody>
      </p:sp>
      <p:sp>
        <p:nvSpPr>
          <p:cNvPr id="4099" name="내용 개체 틀 3">
            <a:extLst>
              <a:ext uri="{FF2B5EF4-FFF2-40B4-BE49-F238E27FC236}">
                <a16:creationId xmlns:a16="http://schemas.microsoft.com/office/drawing/2014/main" id="{B2EB5B6F-8433-50B0-6DB0-E2B0841C1C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24744"/>
            <a:ext cx="8229600" cy="4525962"/>
          </a:xfrm>
        </p:spPr>
        <p:txBody>
          <a:bodyPr/>
          <a:lstStyle/>
          <a:p>
            <a:r>
              <a:rPr lang="en-US" altLang="ko-KR" sz="2400" dirty="0"/>
              <a:t>Functor (function object) </a:t>
            </a:r>
            <a:endParaRPr lang="en-US" altLang="ko-KR" sz="2000" dirty="0"/>
          </a:p>
          <a:p>
            <a:pPr lvl="1"/>
            <a:r>
              <a:rPr lang="en-US" altLang="ko-KR" sz="2000" dirty="0"/>
              <a:t>object of a C++ class that overloads operator(). </a:t>
            </a:r>
          </a:p>
          <a:p>
            <a:pPr lvl="1"/>
            <a:r>
              <a:rPr lang="en-US" altLang="ko-KR" sz="2000" dirty="0"/>
              <a:t>You can use functor just like a function or a function pointer.</a:t>
            </a:r>
          </a:p>
          <a:p>
            <a:pPr lvl="1"/>
            <a:r>
              <a:rPr lang="en-US" altLang="ko-KR" sz="2000" dirty="0"/>
              <a:t>Often used in STL Algorithm.</a:t>
            </a:r>
          </a:p>
          <a:p>
            <a:endParaRPr lang="en-US" altLang="ko-KR" sz="2400" dirty="0"/>
          </a:p>
          <a:p>
            <a:r>
              <a:rPr lang="en-US" altLang="ko-KR" sz="2400" dirty="0"/>
              <a:t>Syntax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class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MyClass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public: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returntype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operator() (…) {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// function body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}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};</a:t>
            </a:r>
          </a:p>
          <a:p>
            <a:pPr marL="0" indent="0">
              <a:buNone/>
            </a:pPr>
            <a:endParaRPr lang="en-US" altLang="ko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9D1349-531D-F484-2BAC-E8AB1B25D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7768"/>
            <a:ext cx="8229600" cy="1143000"/>
          </a:xfrm>
        </p:spPr>
        <p:txBody>
          <a:bodyPr/>
          <a:lstStyle/>
          <a:p>
            <a:r>
              <a:rPr lang="en-US" altLang="ko-Kore-KR" b="1" u="sng" dirty="0"/>
              <a:t>f</a:t>
            </a:r>
            <a:r>
              <a:rPr kumimoji="1" lang="en-US" altLang="ko-Kore-KR" b="1" u="sng" dirty="0"/>
              <a:t>unction example for STL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0F1DC4-216A-7322-6983-F3D882AC6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1309"/>
            <a:ext cx="8229600" cy="4525963"/>
          </a:xfrm>
        </p:spPr>
        <p:txBody>
          <a:bodyPr/>
          <a:lstStyle/>
          <a:p>
            <a:r>
              <a:rPr lang="en-US" altLang="ko-KR" sz="1600" dirty="0"/>
              <a:t>Example using function pointer:</a:t>
            </a:r>
            <a:endParaRPr lang="en-US" altLang="ko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int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myfunction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(int x) { return (x+3); }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int main() {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int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[] = {1,2,3,4,5};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int n =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)/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[0]);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transform(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arr,arr+n,arr,myfunction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for (int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=0;i&lt;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n;i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++)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“ “ 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altLang="ko-KR" sz="1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myfunction</a:t>
            </a:r>
            <a:r>
              <a:rPr lang="en-US" altLang="ko-KR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(100)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&lt;&lt;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return 0;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Output : 4 5 6 7 8 </a:t>
            </a:r>
            <a:r>
              <a:rPr lang="en-US" altLang="ko-KR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103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endParaRPr kumimoji="1" lang="en-US" altLang="ko-Kore-KR" sz="1600" dirty="0"/>
          </a:p>
          <a:p>
            <a:pPr marL="0" indent="0">
              <a:buNone/>
            </a:pPr>
            <a:r>
              <a:rPr lang="en-US" altLang="ko-Kore-KR" sz="1600" dirty="0"/>
              <a:t>	</a:t>
            </a:r>
            <a:endParaRPr kumimoji="1" lang="en-US" altLang="ko-Kore-KR" sz="1600" dirty="0"/>
          </a:p>
        </p:txBody>
      </p:sp>
    </p:spTree>
    <p:extLst>
      <p:ext uri="{BB962C8B-B14F-4D97-AF65-F5344CB8AC3E}">
        <p14:creationId xmlns:p14="http://schemas.microsoft.com/office/powerpoint/2010/main" val="1358608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9D1349-531D-F484-2BAC-E8AB1B25D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7768"/>
            <a:ext cx="8229600" cy="1143000"/>
          </a:xfrm>
        </p:spPr>
        <p:txBody>
          <a:bodyPr/>
          <a:lstStyle/>
          <a:p>
            <a:r>
              <a:rPr kumimoji="1" lang="en-US" altLang="ko-Kore-KR" b="1" u="sng" dirty="0"/>
              <a:t>functor example for STL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0F1DC4-216A-7322-6983-F3D882AC6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4525963"/>
          </a:xfrm>
        </p:spPr>
        <p:txBody>
          <a:bodyPr/>
          <a:lstStyle/>
          <a:p>
            <a:r>
              <a:rPr lang="en-US" altLang="ko-KR" sz="1600" dirty="0"/>
              <a:t>Example using functor:</a:t>
            </a:r>
            <a:endParaRPr lang="en-US" altLang="ko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class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MyClass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int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public: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MyClass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(int n) :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{}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int operator() (int x) { 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return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x+val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}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};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int main() {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MyClass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myfunctor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(3);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int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[] = {1,2,3,4,5};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int n =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)/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[0]);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transform(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arr,arr+n,arr,myfunctor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for (int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=0;i&lt;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n;i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++)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“ “ 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altLang="ko-KR" sz="1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myfunctor</a:t>
            </a:r>
            <a:r>
              <a:rPr lang="en-US" altLang="ko-KR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(100)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return 0;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Output : 4 5 6 7 8 </a:t>
            </a:r>
            <a:r>
              <a:rPr lang="en-US" altLang="ko-KR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103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endParaRPr kumimoji="1" lang="en-US" altLang="ko-Kore-KR" sz="1600" dirty="0"/>
          </a:p>
          <a:p>
            <a:pPr marL="0" indent="0">
              <a:buNone/>
            </a:pPr>
            <a:r>
              <a:rPr lang="en-US" altLang="ko-Kore-KR" sz="1600" dirty="0"/>
              <a:t>	</a:t>
            </a:r>
            <a:endParaRPr kumimoji="1" lang="en-US" altLang="ko-Kore-KR" sz="1600" dirty="0"/>
          </a:p>
        </p:txBody>
      </p:sp>
    </p:spTree>
    <p:extLst>
      <p:ext uri="{BB962C8B-B14F-4D97-AF65-F5344CB8AC3E}">
        <p14:creationId xmlns:p14="http://schemas.microsoft.com/office/powerpoint/2010/main" val="4012996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9D1349-531D-F484-2BAC-E8AB1B25D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7768"/>
            <a:ext cx="8229600" cy="1143000"/>
          </a:xfrm>
        </p:spPr>
        <p:txBody>
          <a:bodyPr/>
          <a:lstStyle/>
          <a:p>
            <a:r>
              <a:rPr kumimoji="1" lang="en-US" altLang="ko-Kore-KR" b="1" u="sng" dirty="0"/>
              <a:t>Functor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0F1DC4-216A-7322-6983-F3D882AC6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4525963"/>
          </a:xfrm>
        </p:spPr>
        <p:txBody>
          <a:bodyPr/>
          <a:lstStyle/>
          <a:p>
            <a:r>
              <a:rPr lang="en-US" altLang="ko-KR" sz="1600" dirty="0"/>
              <a:t> To use the functor:</a:t>
            </a:r>
            <a:endParaRPr lang="en-US" altLang="ko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MyClass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myfunctor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myfunctor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(…);</a:t>
            </a:r>
          </a:p>
          <a:p>
            <a:endParaRPr kumimoji="1" lang="en-US" altLang="ko-Kore-KR" sz="1600" dirty="0"/>
          </a:p>
          <a:p>
            <a:r>
              <a:rPr lang="en-US" altLang="ko-Kore-KR" sz="1600" b="1" dirty="0">
                <a:effectLst/>
              </a:rPr>
              <a:t>The line     :      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MyFunctor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(10); </a:t>
            </a:r>
          </a:p>
          <a:p>
            <a:pPr marL="0" indent="0">
              <a:buNone/>
            </a:pPr>
            <a:r>
              <a:rPr lang="en-US" altLang="ko-Kore-KR" sz="1600" b="1" dirty="0">
                <a:effectLst/>
              </a:rPr>
              <a:t>     Is same as</a:t>
            </a:r>
            <a:r>
              <a:rPr lang="en-US" altLang="ko-Kore-KR" sz="1600" dirty="0"/>
              <a:t> :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MyFunctor.operator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()(10);</a:t>
            </a:r>
          </a:p>
          <a:p>
            <a:endParaRPr kumimoji="1" lang="en-US" altLang="ko-Kore-KR" sz="1600" dirty="0"/>
          </a:p>
          <a:p>
            <a:r>
              <a:rPr lang="en-US" altLang="ko-Kore-KR" sz="1600" b="1" dirty="0">
                <a:effectLst/>
              </a:rPr>
              <a:t>transform2.cpp </a:t>
            </a:r>
            <a:endParaRPr kumimoji="1" lang="en-US" altLang="ko-Kore-KR" sz="1600" dirty="0"/>
          </a:p>
          <a:p>
            <a:pPr lvl="1"/>
            <a:r>
              <a:rPr lang="en-US" altLang="ko-Kore-KR" sz="1600" b="1" dirty="0">
                <a:effectLst/>
              </a:rPr>
              <a:t>The line:</a:t>
            </a:r>
            <a:r>
              <a:rPr lang="en-US" altLang="ko-Kore-KR" sz="1600" dirty="0"/>
              <a:t>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transform(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arr+n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increment(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to_add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)); </a:t>
            </a:r>
          </a:p>
          <a:p>
            <a:pPr marL="0" indent="0">
              <a:buNone/>
            </a:pPr>
            <a:endParaRPr lang="en-US" altLang="ko-Kore-KR" sz="1600" b="1" dirty="0"/>
          </a:p>
          <a:p>
            <a:pPr marL="0" indent="0">
              <a:buNone/>
            </a:pPr>
            <a:r>
              <a:rPr lang="en-US" altLang="ko-Kore-KR" sz="1600" b="1" dirty="0"/>
              <a:t>           I</a:t>
            </a:r>
            <a:r>
              <a:rPr lang="en-US" altLang="ko-Kore-KR" sz="1600" b="1" dirty="0">
                <a:effectLst/>
              </a:rPr>
              <a:t>s the same as writing below two lines,</a:t>
            </a:r>
            <a:r>
              <a:rPr lang="en-US" altLang="ko-Kore-KR" sz="1600" dirty="0"/>
              <a:t>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// Creating object of increment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increment obj(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to_add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// Calling () on object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transform(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arr+n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obj); </a:t>
            </a:r>
            <a:endParaRPr kumimoji="1" lang="ko-Kore-KR" alt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6418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제목 1">
            <a:extLst>
              <a:ext uri="{FF2B5EF4-FFF2-40B4-BE49-F238E27FC236}">
                <a16:creationId xmlns:a16="http://schemas.microsoft.com/office/drawing/2014/main" id="{49BE2AFA-F045-D1AE-11D1-B22DFFE74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 dirty="0"/>
              <a:t>Example (Functor)</a:t>
            </a:r>
            <a:endParaRPr lang="ko-KR" altLang="en-US" sz="4000" b="1" u="sng" dirty="0"/>
          </a:p>
        </p:txBody>
      </p:sp>
      <p:sp>
        <p:nvSpPr>
          <p:cNvPr id="5123" name="내용 개체 틀 2">
            <a:extLst>
              <a:ext uri="{FF2B5EF4-FFF2-40B4-BE49-F238E27FC236}">
                <a16:creationId xmlns:a16="http://schemas.microsoft.com/office/drawing/2014/main" id="{2A1E37E9-5BD0-D335-E978-23E68F057B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3200" dirty="0"/>
              <a:t>In our class webpage,</a:t>
            </a:r>
          </a:p>
          <a:p>
            <a:pPr lvl="1"/>
            <a:r>
              <a:rPr lang="en-US" altLang="ko-KR" sz="2400" dirty="0"/>
              <a:t>functor1.cpp </a:t>
            </a:r>
          </a:p>
          <a:p>
            <a:pPr lvl="1"/>
            <a:r>
              <a:rPr lang="en-US" altLang="ko-KR" sz="2400" dirty="0"/>
              <a:t>transform2.cpp</a:t>
            </a:r>
          </a:p>
          <a:p>
            <a:endParaRPr lang="ko-KR" alt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6110D7-529E-3351-FA84-4B250021D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/>
              <a:t>useful C++11 Features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68154F-B19F-4036-4EF8-D1E28CD109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ko-Kore-KR" b="1" dirty="0"/>
              <a:t>auto , </a:t>
            </a:r>
            <a:r>
              <a:rPr kumimoji="1" lang="en-US" altLang="ko-Kore-KR" b="1" dirty="0" err="1"/>
              <a:t>decltype</a:t>
            </a:r>
            <a:endParaRPr kumimoji="1" lang="en-US" altLang="ko-Kore-KR" b="1" dirty="0"/>
          </a:p>
          <a:p>
            <a:r>
              <a:rPr lang="en-US" altLang="ko-Kore-KR" b="1" dirty="0"/>
              <a:t>range-based for loop </a:t>
            </a:r>
          </a:p>
          <a:p>
            <a:r>
              <a:rPr lang="en-US" altLang="ko-Kore-KR" b="1" dirty="0"/>
              <a:t>lambda function</a:t>
            </a:r>
          </a:p>
          <a:p>
            <a:r>
              <a:rPr lang="en-US" altLang="ko-Kore-KR" dirty="0">
                <a:solidFill>
                  <a:schemeClr val="bg2"/>
                </a:solidFill>
              </a:rPr>
              <a:t>move semantics (and move constructor)</a:t>
            </a:r>
          </a:p>
          <a:p>
            <a:r>
              <a:rPr lang="en-US" altLang="ko-Kore-KR" dirty="0">
                <a:solidFill>
                  <a:schemeClr val="bg2"/>
                </a:solidFill>
              </a:rPr>
              <a:t>smart pointer</a:t>
            </a:r>
          </a:p>
          <a:p>
            <a:r>
              <a:rPr lang="en-US" altLang="ko-Kore-KR" dirty="0">
                <a:solidFill>
                  <a:schemeClr val="bg2"/>
                </a:solidFill>
              </a:rPr>
              <a:t>multithreading</a:t>
            </a:r>
          </a:p>
          <a:p>
            <a:endParaRPr lang="en-US" altLang="ko-Kore-KR" dirty="0"/>
          </a:p>
        </p:txBody>
      </p:sp>
    </p:spTree>
    <p:extLst>
      <p:ext uri="{BB962C8B-B14F-4D97-AF65-F5344CB8AC3E}">
        <p14:creationId xmlns:p14="http://schemas.microsoft.com/office/powerpoint/2010/main" val="35224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7D1DF2-041E-07D5-39A2-A71C277B2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>
                <a:solidFill>
                  <a:schemeClr val="tx1"/>
                </a:solidFill>
              </a:rPr>
              <a:t>auto</a:t>
            </a:r>
            <a:endParaRPr kumimoji="1" lang="ko-Kore-KR" altLang="en-US" b="1" u="sng" dirty="0">
              <a:solidFill>
                <a:schemeClr val="tx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5DD9F7-8706-DA8F-DB3A-A07C8E704A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" y="1600200"/>
            <a:ext cx="9155360" cy="4525963"/>
          </a:xfrm>
        </p:spPr>
        <p:txBody>
          <a:bodyPr/>
          <a:lstStyle/>
          <a:p>
            <a:r>
              <a:rPr kumimoji="1" lang="en-US" altLang="ko-Kore-KR" b="1" dirty="0">
                <a:latin typeface="Courier New" panose="02070309020205020404" pitchFamily="49" charset="0"/>
                <a:cs typeface="Courier New" panose="02070309020205020404" pitchFamily="49" charset="0"/>
              </a:rPr>
              <a:t>auto</a:t>
            </a:r>
          </a:p>
          <a:p>
            <a:pPr lvl="1"/>
            <a:r>
              <a:rPr lang="en-US" altLang="ko-Kore-KR" dirty="0"/>
              <a:t>type of variable is automatically deduced</a:t>
            </a:r>
          </a:p>
          <a:p>
            <a:pPr marL="457200" lvl="1" indent="0">
              <a:buNone/>
            </a:pPr>
            <a:endParaRPr lang="en-US" altLang="ko-Kore-KR" dirty="0"/>
          </a:p>
          <a:p>
            <a:pPr marL="457200" lvl="1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auto a = 3;    </a:t>
            </a:r>
          </a:p>
          <a:p>
            <a:pPr marL="457200" lvl="1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auto b = 5.21;</a:t>
            </a:r>
          </a:p>
          <a:p>
            <a:pPr marL="457200" lvl="1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auto c = a;</a:t>
            </a:r>
          </a:p>
          <a:p>
            <a:pPr marL="457200" lvl="1" indent="0">
              <a:buNone/>
            </a:pPr>
            <a:endParaRPr lang="en-US" altLang="ko-Kore-KR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(vector&lt;int&gt;::iterator it=</a:t>
            </a: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vec.begin</a:t>
            </a: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();it!=</a:t>
            </a: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vec.end</a:t>
            </a: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();it++) </a:t>
            </a:r>
          </a:p>
          <a:p>
            <a:pPr marL="457200" lvl="1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endParaRPr lang="en-US" altLang="ko-Kore-KR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it=</a:t>
            </a: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vec.begin</a:t>
            </a: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();it!=</a:t>
            </a: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vec.end</a:t>
            </a: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();it++) </a:t>
            </a:r>
          </a:p>
          <a:p>
            <a:pPr marL="457200" lvl="1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endParaRPr lang="en-US" altLang="ko-Kore-KR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kumimoji="1" lang="en-US" altLang="ko-Kore-KR" dirty="0"/>
          </a:p>
          <a:p>
            <a:pPr marL="457200" lvl="1" indent="0">
              <a:buNone/>
            </a:pPr>
            <a:endParaRPr lang="en-US" altLang="ko-Kore-KR" dirty="0"/>
          </a:p>
          <a:p>
            <a:pPr marL="457200" lvl="1" indent="0">
              <a:buNone/>
            </a:pPr>
            <a:endParaRPr kumimoji="1" lang="en-US" altLang="ko-Kore-KR" dirty="0"/>
          </a:p>
        </p:txBody>
      </p:sp>
    </p:spTree>
    <p:extLst>
      <p:ext uri="{BB962C8B-B14F-4D97-AF65-F5344CB8AC3E}">
        <p14:creationId xmlns:p14="http://schemas.microsoft.com/office/powerpoint/2010/main" val="27963825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579BCB-3A55-B02E-C991-B783BD087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 err="1">
                <a:solidFill>
                  <a:schemeClr val="tx1"/>
                </a:solidFill>
              </a:rPr>
              <a:t>decltype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A9B8FA-D7DD-C217-AB60-81C924BC7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ko-Kore-KR" dirty="0"/>
              <a:t>extracts type from variable</a:t>
            </a:r>
          </a:p>
          <a:p>
            <a:endParaRPr lang="en-US" altLang="ko-Kore-KR" dirty="0"/>
          </a:p>
          <a:p>
            <a:r>
              <a:rPr kumimoji="1" lang="en-US" altLang="ko-Kore-KR" dirty="0"/>
              <a:t>Example</a:t>
            </a:r>
          </a:p>
          <a:p>
            <a:pPr marL="457200" lvl="1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 a = 5;</a:t>
            </a:r>
          </a:p>
          <a:p>
            <a:pPr marL="457200" lvl="1" indent="0">
              <a:buNone/>
            </a:pP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kumimoji="1"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ecltype</a:t>
            </a:r>
            <a:r>
              <a:rPr kumimoji="1"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(a) b = a + 7;</a:t>
            </a:r>
            <a:endParaRPr kumimoji="1" lang="ko-Kore-KR" altLang="en-US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5629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C594E8-7C2F-632B-23B3-82D4FBEF1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1143000"/>
          </a:xfrm>
        </p:spPr>
        <p:txBody>
          <a:bodyPr/>
          <a:lstStyle/>
          <a:p>
            <a:r>
              <a:rPr kumimoji="1" lang="en-US" altLang="ko-Kore-KR" b="1" u="sng" dirty="0"/>
              <a:t>range-based for loop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028E1B-499E-D5E2-9E07-1821E97D9F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6512" y="991269"/>
            <a:ext cx="9577064" cy="4525963"/>
          </a:xfrm>
        </p:spPr>
        <p:txBody>
          <a:bodyPr/>
          <a:lstStyle/>
          <a:p>
            <a:pPr marL="457200" lvl="1" indent="0">
              <a:buNone/>
            </a:pPr>
            <a:r>
              <a:rPr lang="en-US" altLang="ko-Kore-KR" sz="1600" b="1" dirty="0">
                <a:latin typeface="Gulim" panose="020B0600000101010101" pitchFamily="34" charset="-127"/>
                <a:ea typeface="Gulim" panose="020B0600000101010101" pitchFamily="34" charset="-127"/>
              </a:rPr>
              <a:t>Executes a for loop over a range from beginning to end</a:t>
            </a:r>
          </a:p>
          <a:p>
            <a:pPr marL="457200" lvl="1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(vector&lt;int&gt;::iterator it=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vec.begin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();it!=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vec.end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();it++) </a:t>
            </a: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(int x: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457200" lvl="1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x: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{       // copy occurs</a:t>
            </a: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457200" lvl="1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x: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{      // no copy, modification of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possible</a:t>
            </a: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457200" lvl="1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(const auto&amp; x: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{ // no copy, no modification</a:t>
            </a: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086753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1AC13D-7DF1-CDCE-3530-30CD40EE5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/>
              <a:t>Lambda Function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BEC151-73D0-37D1-6227-62B3B5974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075240" cy="4525963"/>
          </a:xfrm>
        </p:spPr>
        <p:txBody>
          <a:bodyPr/>
          <a:lstStyle/>
          <a:p>
            <a:r>
              <a:rPr kumimoji="1" lang="en-US" altLang="ko-Kore-KR" sz="2800" dirty="0"/>
              <a:t>An anonymous function object</a:t>
            </a:r>
            <a:r>
              <a:rPr lang="en-US" altLang="ko-Kore-KR" sz="2800" dirty="0"/>
              <a:t> </a:t>
            </a:r>
          </a:p>
          <a:p>
            <a:endParaRPr lang="en-US" altLang="ko-Kore-KR" sz="2800" dirty="0"/>
          </a:p>
          <a:p>
            <a:r>
              <a:rPr lang="en-US" altLang="ko-Kore-KR" sz="2800" dirty="0"/>
              <a:t>At the location where it is invoked or passed as an argument to a function</a:t>
            </a:r>
          </a:p>
          <a:p>
            <a:endParaRPr kumimoji="1" lang="en-US" altLang="ko-Kore-KR" sz="2800" dirty="0"/>
          </a:p>
          <a:p>
            <a:r>
              <a:rPr kumimoji="1" lang="en-US" altLang="ko-Kore-KR" sz="2800" dirty="0"/>
              <a:t>Not reused, Do not require a function name</a:t>
            </a:r>
          </a:p>
          <a:p>
            <a:endParaRPr lang="en-US" altLang="ko-Kore-KR" sz="2800" dirty="0"/>
          </a:p>
          <a:p>
            <a:r>
              <a:rPr lang="en-US" altLang="ko-Kore-KR" sz="2800" dirty="0"/>
              <a:t>Normally used to encapsulate a few lines of code that are passed to algorithms</a:t>
            </a:r>
          </a:p>
        </p:txBody>
      </p:sp>
    </p:spTree>
    <p:extLst>
      <p:ext uri="{BB962C8B-B14F-4D97-AF65-F5344CB8AC3E}">
        <p14:creationId xmlns:p14="http://schemas.microsoft.com/office/powerpoint/2010/main" val="19365670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093C6E-806D-7A63-729C-E51210C67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/>
              <a:t>Lambda Function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335884-1D8F-F90B-8104-0724DD653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4784"/>
            <a:ext cx="8686800" cy="4525963"/>
          </a:xfrm>
        </p:spPr>
        <p:txBody>
          <a:bodyPr/>
          <a:lstStyle/>
          <a:p>
            <a:r>
              <a:rPr kumimoji="1" lang="en-US" altLang="ko-Kore-KR" dirty="0"/>
              <a:t>typical form of a lambda function:</a:t>
            </a:r>
          </a:p>
          <a:p>
            <a:pPr marL="0" indent="0">
              <a:buNone/>
            </a:pPr>
            <a:r>
              <a:rPr lang="en-US" altLang="ko-Kore-KR" sz="2000" dirty="0"/>
              <a:t>   ( </a:t>
            </a:r>
            <a:r>
              <a:rPr lang="en-US" altLang="ko-Kore-KR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“-&gt; </a:t>
            </a:r>
            <a:r>
              <a:rPr lang="en-US" altLang="ko-Kore-KR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return_type</a:t>
            </a:r>
            <a:r>
              <a:rPr lang="en-US" altLang="ko-Kore-KR" sz="2000" dirty="0"/>
              <a:t>” may not be necessary. ) </a:t>
            </a:r>
            <a:endParaRPr kumimoji="1" lang="en-US" altLang="ko-Kore-KR" sz="2000" dirty="0"/>
          </a:p>
          <a:p>
            <a:pPr marL="0" indent="0">
              <a:buNone/>
            </a:pPr>
            <a:r>
              <a:rPr lang="en-US" altLang="ko-Kore-K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[ capture clause ] (parameters) -&gt; </a:t>
            </a: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return_type</a:t>
            </a:r>
            <a:endParaRPr lang="en-US" altLang="ko-Kore-KR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definition of method</a:t>
            </a:r>
          </a:p>
          <a:p>
            <a:pPr marL="0" indent="0">
              <a:buNone/>
            </a:pPr>
            <a:r>
              <a:rPr kumimoji="1"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  <a:endParaRPr kumimoji="1" lang="en-US" altLang="ko-Kore-KR" dirty="0"/>
          </a:p>
          <a:p>
            <a:endParaRPr kumimoji="1" lang="en-US" altLang="ko-Kore-KR" dirty="0"/>
          </a:p>
          <a:p>
            <a:r>
              <a:rPr kumimoji="1" lang="en-US" altLang="ko-Kore-KR" dirty="0"/>
              <a:t>Example  (lambda1.cpp)</a:t>
            </a:r>
            <a:endParaRPr lang="en-US" altLang="ko-Kore-KR" dirty="0"/>
          </a:p>
          <a:p>
            <a:pPr marL="0" indent="0" algn="l" rtl="0" fontAlgn="base">
              <a:buNone/>
            </a:pPr>
            <a:r>
              <a:rPr lang="en-US" altLang="ko-Kore-KR" sz="1600" b="1" i="0" dirty="0">
                <a:solidFill>
                  <a:srgbClr val="27323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vector&lt;int&gt; v={4, 1, 3, 5, 2, 3, 1, 7}</a:t>
            </a:r>
          </a:p>
          <a:p>
            <a:pPr marL="0" indent="0" algn="l" rtl="0" fontAlgn="base">
              <a:buNone/>
            </a:pPr>
            <a:r>
              <a:rPr lang="en-US" altLang="ko-Kore-KR" sz="1600" b="1" i="0" dirty="0">
                <a:solidFill>
                  <a:srgbClr val="27323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en-US" altLang="ko-Kore-KR" sz="1600" b="1" i="0" dirty="0" err="1">
                <a:solidFill>
                  <a:srgbClr val="27323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v.begin</a:t>
            </a:r>
            <a:r>
              <a:rPr lang="en-US" altLang="ko-Kore-KR" sz="1600" b="1" i="0" dirty="0">
                <a:solidFill>
                  <a:srgbClr val="27323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en-US" altLang="ko-Kore-KR" sz="1600" b="1" i="0" dirty="0" err="1">
                <a:solidFill>
                  <a:srgbClr val="27323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altLang="ko-Kore-KR" sz="1600" b="1" i="0" dirty="0">
                <a:solidFill>
                  <a:srgbClr val="27323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(), [](const int&amp; a, const int&amp; b) -&gt; bool</a:t>
            </a:r>
          </a:p>
          <a:p>
            <a:pPr marL="0" indent="0" algn="l" rtl="0" fontAlgn="base">
              <a:buNone/>
            </a:pPr>
            <a:r>
              <a:rPr lang="en-US" altLang="ko-Kore-KR" sz="1600" b="1" i="0" dirty="0">
                <a:solidFill>
                  <a:srgbClr val="27323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 algn="l" rtl="0" fontAlgn="base">
              <a:buNone/>
            </a:pPr>
            <a:r>
              <a:rPr lang="en-US" altLang="ko-Kore-KR" sz="1600" b="1" i="0" dirty="0">
                <a:solidFill>
                  <a:srgbClr val="27323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return a &gt; b;</a:t>
            </a:r>
          </a:p>
          <a:p>
            <a:pPr marL="0" indent="0" algn="l" rtl="0" fontAlgn="base">
              <a:buNone/>
            </a:pPr>
            <a:r>
              <a:rPr lang="en-US" altLang="ko-Kore-KR" sz="1600" b="1" i="0" dirty="0">
                <a:solidFill>
                  <a:srgbClr val="27323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});</a:t>
            </a:r>
          </a:p>
          <a:p>
            <a:pPr marL="0" indent="0">
              <a:buNone/>
            </a:pP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1360677424"/>
      </p:ext>
    </p:extLst>
  </p:cSld>
  <p:clrMapOvr>
    <a:masterClrMapping/>
  </p:clrMapOvr>
</p:sld>
</file>

<file path=ppt/theme/theme1.xml><?xml version="1.0" encoding="utf-8"?>
<a:theme xmlns:a="http://schemas.openxmlformats.org/drawingml/2006/main" name="네모의 미">
  <a:themeElements>
    <a:clrScheme name="네모의 미 1">
      <a:dk1>
        <a:srgbClr val="000000"/>
      </a:dk1>
      <a:lt1>
        <a:srgbClr val="FFFFBF"/>
      </a:lt1>
      <a:dk2>
        <a:srgbClr val="666633"/>
      </a:dk2>
      <a:lt2>
        <a:srgbClr val="969696"/>
      </a:lt2>
      <a:accent1>
        <a:srgbClr val="99CC00"/>
      </a:accent1>
      <a:accent2>
        <a:srgbClr val="247C41"/>
      </a:accent2>
      <a:accent3>
        <a:srgbClr val="FFFFDC"/>
      </a:accent3>
      <a:accent4>
        <a:srgbClr val="000000"/>
      </a:accent4>
      <a:accent5>
        <a:srgbClr val="CAE2AA"/>
      </a:accent5>
      <a:accent6>
        <a:srgbClr val="20703A"/>
      </a:accent6>
      <a:hlink>
        <a:srgbClr val="EBA9D0"/>
      </a:hlink>
      <a:folHlink>
        <a:srgbClr val="CFBA7D"/>
      </a:folHlink>
    </a:clrScheme>
    <a:fontScheme name="네모의 미">
      <a:majorFont>
        <a:latin typeface="굴림"/>
        <a:ea typeface="굴림"/>
        <a:cs typeface="Arial"/>
      </a:majorFont>
      <a:minorFont>
        <a:latin typeface="굴림"/>
        <a:ea typeface="굴림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네모의 미 1">
        <a:dk1>
          <a:srgbClr val="000000"/>
        </a:dk1>
        <a:lt1>
          <a:srgbClr val="FFFFBF"/>
        </a:lt1>
        <a:dk2>
          <a:srgbClr val="666633"/>
        </a:dk2>
        <a:lt2>
          <a:srgbClr val="969696"/>
        </a:lt2>
        <a:accent1>
          <a:srgbClr val="99CC00"/>
        </a:accent1>
        <a:accent2>
          <a:srgbClr val="247C41"/>
        </a:accent2>
        <a:accent3>
          <a:srgbClr val="FFFFDC"/>
        </a:accent3>
        <a:accent4>
          <a:srgbClr val="000000"/>
        </a:accent4>
        <a:accent5>
          <a:srgbClr val="CAE2AA"/>
        </a:accent5>
        <a:accent6>
          <a:srgbClr val="20703A"/>
        </a:accent6>
        <a:hlink>
          <a:srgbClr val="EBA9D0"/>
        </a:hlink>
        <a:folHlink>
          <a:srgbClr val="CFBA7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2">
        <a:dk1>
          <a:srgbClr val="000000"/>
        </a:dk1>
        <a:lt1>
          <a:srgbClr val="FFFFFF"/>
        </a:lt1>
        <a:dk2>
          <a:srgbClr val="000066"/>
        </a:dk2>
        <a:lt2>
          <a:srgbClr val="969696"/>
        </a:lt2>
        <a:accent1>
          <a:srgbClr val="D26F5E"/>
        </a:accent1>
        <a:accent2>
          <a:srgbClr val="6164DF"/>
        </a:accent2>
        <a:accent3>
          <a:srgbClr val="FFFFFF"/>
        </a:accent3>
        <a:accent4>
          <a:srgbClr val="000000"/>
        </a:accent4>
        <a:accent5>
          <a:srgbClr val="E5BBB6"/>
        </a:accent5>
        <a:accent6>
          <a:srgbClr val="575ACA"/>
        </a:accent6>
        <a:hlink>
          <a:srgbClr val="FFCC66"/>
        </a:hlink>
        <a:folHlink>
          <a:srgbClr val="51AF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3">
        <a:dk1>
          <a:srgbClr val="000000"/>
        </a:dk1>
        <a:lt1>
          <a:srgbClr val="D8F1CD"/>
        </a:lt1>
        <a:dk2>
          <a:srgbClr val="003300"/>
        </a:dk2>
        <a:lt2>
          <a:srgbClr val="969696"/>
        </a:lt2>
        <a:accent1>
          <a:srgbClr val="FF9966"/>
        </a:accent1>
        <a:accent2>
          <a:srgbClr val="2F7171"/>
        </a:accent2>
        <a:accent3>
          <a:srgbClr val="E9F7E3"/>
        </a:accent3>
        <a:accent4>
          <a:srgbClr val="000000"/>
        </a:accent4>
        <a:accent5>
          <a:srgbClr val="FFCAB8"/>
        </a:accent5>
        <a:accent6>
          <a:srgbClr val="2A6666"/>
        </a:accent6>
        <a:hlink>
          <a:srgbClr val="32C69C"/>
        </a:hlink>
        <a:folHlink>
          <a:srgbClr val="B8AA9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4">
        <a:dk1>
          <a:srgbClr val="000000"/>
        </a:dk1>
        <a:lt1>
          <a:srgbClr val="CFE1F9"/>
        </a:lt1>
        <a:dk2>
          <a:srgbClr val="000066"/>
        </a:dk2>
        <a:lt2>
          <a:srgbClr val="969696"/>
        </a:lt2>
        <a:accent1>
          <a:srgbClr val="9966FF"/>
        </a:accent1>
        <a:accent2>
          <a:srgbClr val="6164DF"/>
        </a:accent2>
        <a:accent3>
          <a:srgbClr val="E4EEFB"/>
        </a:accent3>
        <a:accent4>
          <a:srgbClr val="000000"/>
        </a:accent4>
        <a:accent5>
          <a:srgbClr val="CAB8FF"/>
        </a:accent5>
        <a:accent6>
          <a:srgbClr val="575ACA"/>
        </a:accent6>
        <a:hlink>
          <a:srgbClr val="EBA9A9"/>
        </a:hlink>
        <a:folHlink>
          <a:srgbClr val="42A8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5">
        <a:dk1>
          <a:srgbClr val="000000"/>
        </a:dk1>
        <a:lt1>
          <a:srgbClr val="F6DB90"/>
        </a:lt1>
        <a:dk2>
          <a:srgbClr val="663300"/>
        </a:dk2>
        <a:lt2>
          <a:srgbClr val="969696"/>
        </a:lt2>
        <a:accent1>
          <a:srgbClr val="99CC00"/>
        </a:accent1>
        <a:accent2>
          <a:srgbClr val="5F50BA"/>
        </a:accent2>
        <a:accent3>
          <a:srgbClr val="FAEAC6"/>
        </a:accent3>
        <a:accent4>
          <a:srgbClr val="000000"/>
        </a:accent4>
        <a:accent5>
          <a:srgbClr val="CAE2AA"/>
        </a:accent5>
        <a:accent6>
          <a:srgbClr val="5548A8"/>
        </a:accent6>
        <a:hlink>
          <a:srgbClr val="C57233"/>
        </a:hlink>
        <a:folHlink>
          <a:srgbClr val="BAAD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6">
        <a:dk1>
          <a:srgbClr val="000000"/>
        </a:dk1>
        <a:lt1>
          <a:srgbClr val="EAEAEA"/>
        </a:lt1>
        <a:dk2>
          <a:srgbClr val="000000"/>
        </a:dk2>
        <a:lt2>
          <a:srgbClr val="B2B2B2"/>
        </a:lt2>
        <a:accent1>
          <a:srgbClr val="B2B2B2"/>
        </a:accent1>
        <a:accent2>
          <a:srgbClr val="777777"/>
        </a:accent2>
        <a:accent3>
          <a:srgbClr val="F3F3F3"/>
        </a:accent3>
        <a:accent4>
          <a:srgbClr val="000000"/>
        </a:accent4>
        <a:accent5>
          <a:srgbClr val="D5D5D5"/>
        </a:accent5>
        <a:accent6>
          <a:srgbClr val="6B6B6B"/>
        </a:accent6>
        <a:hlink>
          <a:srgbClr val="969696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네모의 미</Template>
  <TotalTime>4875</TotalTime>
  <Words>844</Words>
  <Application>Microsoft Macintosh PowerPoint</Application>
  <PresentationFormat>화면 슬라이드 쇼(4:3)</PresentationFormat>
  <Paragraphs>144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9" baseType="lpstr">
      <vt:lpstr>Gulim</vt:lpstr>
      <vt:lpstr>Gulim</vt:lpstr>
      <vt:lpstr>맑은 고딕</vt:lpstr>
      <vt:lpstr>Arial</vt:lpstr>
      <vt:lpstr>Courier New</vt:lpstr>
      <vt:lpstr>Wingdings</vt:lpstr>
      <vt:lpstr>네모의 미</vt:lpstr>
      <vt:lpstr>Lecture 7-4:  Miscellaneous Concepts</vt:lpstr>
      <vt:lpstr>Functor</vt:lpstr>
      <vt:lpstr>function example for STL</vt:lpstr>
      <vt:lpstr>functor example for STL</vt:lpstr>
      <vt:lpstr>Functor</vt:lpstr>
      <vt:lpstr>Example (Functor)</vt:lpstr>
      <vt:lpstr>useful C++11 Features</vt:lpstr>
      <vt:lpstr>auto</vt:lpstr>
      <vt:lpstr>decltype</vt:lpstr>
      <vt:lpstr>range-based for loop</vt:lpstr>
      <vt:lpstr>Lambda Function</vt:lpstr>
      <vt:lpstr>Lambda Function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 System (English-Only Lecture)</dc:title>
  <dc:creator>손호경</dc:creator>
  <cp:lastModifiedBy>Bong-Soo Sohn</cp:lastModifiedBy>
  <cp:revision>322</cp:revision>
  <dcterms:created xsi:type="dcterms:W3CDTF">2008-03-06T00:32:01Z</dcterms:created>
  <dcterms:modified xsi:type="dcterms:W3CDTF">2024-11-19T09:36:12Z</dcterms:modified>
</cp:coreProperties>
</file>