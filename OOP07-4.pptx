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notesMasterIdLst>
    <p:notesMasterId r:id="rId16"/>
  </p:notesMasterIdLst>
  <p:sldIdLst>
    <p:sldId id="256" r:id="rId2"/>
    <p:sldId id="326" r:id="rId3"/>
    <p:sldId id="425" r:id="rId4"/>
    <p:sldId id="426" r:id="rId5"/>
    <p:sldId id="418" r:id="rId6"/>
    <p:sldId id="406" r:id="rId7"/>
    <p:sldId id="419" r:id="rId8"/>
    <p:sldId id="420" r:id="rId9"/>
    <p:sldId id="421" r:id="rId10"/>
    <p:sldId id="422" r:id="rId11"/>
    <p:sldId id="423" r:id="rId12"/>
    <p:sldId id="428" r:id="rId13"/>
    <p:sldId id="424" r:id="rId14"/>
    <p:sldId id="427" r:id="rId15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6" autoAdjust="0"/>
    <p:restoredTop sz="94694"/>
  </p:normalViewPr>
  <p:slideViewPr>
    <p:cSldViewPr>
      <p:cViewPr varScale="1">
        <p:scale>
          <a:sx n="121" d="100"/>
          <a:sy n="121" d="100"/>
        </p:scale>
        <p:origin x="17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93684D4-D585-504C-A3AC-9E09BA8B15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0F462A-00D9-48F1-8BDC-4813E61F359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65193CB-4F0D-1143-9D4B-D63197526CB0}" type="datetimeFigureOut">
              <a:rPr lang="ko-KR" altLang="en-US"/>
              <a:pPr>
                <a:defRPr/>
              </a:pPr>
              <a:t>2025. 12. 2.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DBF8B313-ADB1-F578-471E-F4FD7238E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0EEA8657-D2D4-C0ED-BDC6-73EC6B619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AD2929-70BB-FE88-C858-40E07D3E27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2D8C75-6400-C43E-EF15-A445999AF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0083838-BF68-244A-AC59-F54EDD7170B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E7EADF-C01D-9CDC-8BE4-905C91D31A2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B9A22C82-18C9-E3C2-49C4-B73C33F35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29EC4FC-7615-DC84-B168-F5E178A30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954F3CDE-F138-1855-416F-8457418FD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E4EAC95-EF16-B2EC-C3E1-3AB66FE52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D6A50B50-0371-1A4F-E180-2EC26F881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C1CC3865-C318-4A08-78C3-71881CF23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48FCA7E6-6467-1E9B-D00B-55E4C9896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9015A556-A0B2-AD0B-AA4F-AD204F158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8759D885-6C01-23B3-9EFE-9B5AEE16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EBE526FF-66DB-84A0-F201-39E92A2C617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AED05470-375F-53A7-2190-DEAB22145427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1C491309-52FE-1FE0-DFE1-B2FE14F0EEE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68C1EBAA-40B8-55DD-D150-8671E7CB140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E7B4D0A1-75FF-7FC8-48C4-0A257C55AA0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70BD897E-0316-E94B-E3AC-95786D35502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0F952985-B931-2017-C285-DBEEE09C582C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648670AA-DD2C-1C83-7296-639E5BF10F9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25C910DF-9CFD-C281-B3FC-1C25850C40F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B747D072-60AC-E1A5-508A-C72CAEC07A1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42123C1E-0961-BE8B-CB09-0BBAEA33AAD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CFFB2CD5-168B-E5CC-525D-78EA06B41A6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67651698-2A73-C647-F2E1-15C50096C6A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508B08DF-34F7-DC0C-9E9E-3486B89A23A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749C2900-FFC1-556A-AC99-F933CB8A395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BF2F626-95A3-A64F-E1FF-509EFB903F5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158E99F0-F290-CB71-BA57-9ADEBBC7A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8091F84D-7FC9-6CED-0DBC-7B38AFCC96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4D39E1-F6D3-314E-88D7-7306CCE7F32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84496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63FCA5B0-DA25-8BB5-EFF0-FFFD3890D1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2FA5D06-6C8C-1BD7-4350-091AC24330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C140236B-FD49-382E-FABD-7A4950975D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A051F8-45B1-9748-B600-DEA9D819373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793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FA964A02-2C6F-B889-D241-871A62CAC2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64561F07-AC6B-48F4-C2CA-ADAFD7340A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3F5C0915-934D-9A73-6580-6FA5B605D5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BC7D8A-8CC6-5849-A5B6-F79DD04CB7F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928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110E2753-D580-A354-86CA-522FEA8BB2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A405ADF-92B6-6E3E-2484-FDC76193CF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DF3CA3BD-933E-E2EE-5854-BE5FA5494D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1B7759-DBCB-C94D-A546-807533C7A97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931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FB53EE93-0952-CDFA-37B6-CFB86EB483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CC673D72-E4EE-70F8-47F1-5E99E12D30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49CCFDB5-49A6-65F3-399B-819EF0F28E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1AC0B3-2ED0-8943-A806-1D4A0167BE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8561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71C559C6-ECC0-A30A-9C50-EF520F90F4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49183CE7-99EE-59AF-1661-CB6B93E8C0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51FB10DE-9742-A40A-8097-22FDAA875A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70A069-EEE8-B54B-A485-6F7D1CC259F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5405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2C3F395C-2DC5-3295-BDAA-BA1E8FCB2B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938B5FFF-40F8-0A42-FCB8-84D4685E2C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1A319CD1-0435-3B31-5CA8-C71E0729B8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488BC6-C9BA-2E42-8C51-BA26954A0D4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6259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64D404E-B16B-E4FF-45DD-837468BF0F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C1977B25-469A-39E7-24BC-EAB038C62A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49157D48-CC59-81BA-89F7-9B04D3EC74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22C686-226A-DA47-828F-7331E0C6DC9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6501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C9D6F3FD-90BD-E891-2570-80AFAF78B9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B8170C26-5E6F-2003-3E06-BACFA0DCCB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2AEF5D21-2322-34B5-7829-EC14DF2D45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57CC39-3897-A44E-9F64-F794E092812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451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32766A1-9075-E3EB-8CCC-76406C7A0E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DE469A2-C6E6-919E-08BE-5C171151E6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9F959C98-DD20-1FBA-4123-0BB7AC38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FC59C9-4DE4-B846-96F1-E4DB2292FA3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82254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9D160CF1-9CC8-5910-9E7D-082E10BAE4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964DA060-585B-2F82-7760-176D554C44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A684993B-EBBB-80BB-E148-A9F88F3808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0EEB6B-D10E-6A44-B3F3-E6125ACEA05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79064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21086599-3EBD-EDC8-416A-5B1E3EFF16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DCB6A362-551C-D352-9803-DC36BBB319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0ADD47FD-C653-CEA0-0EA2-98A2B21B87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784D44-17CE-6C4C-A803-F2218A13FD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6127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8A9B0035-7E8E-DD27-508C-052BF12BA3D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33743EFF-15F6-C0BB-399E-928B87E5F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9C761259-473E-0919-45E4-3D5464657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88CD8694-0B4D-C2E4-8602-D924FAAE9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BFC24B5E-1079-32AF-512E-C482447E7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EC74A9B7-61B4-F960-DE3D-A1FD3227E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9A304234-D1A6-318B-DC3C-859220DE1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5A0DDF62-6F1B-0399-F57E-98C9EEA1C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71F9F8BA-6A69-654A-0647-47D7D3E7D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1F1C0A15-52E7-B9A9-6872-07C612C14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FE0FF93F-C85E-4E83-A665-701FD0D22FD1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DE63DC60-BBC2-F7B3-DF26-F0054893F49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6D9FD889-63FB-53AF-B971-AB1DBD00DD1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3C2B313A-DC1B-59F1-5DE0-14F3BE42541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B1D322E1-CE98-2BE4-A6CB-5A738897634B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C90C9C82-4600-AAC3-98FC-C6B135D2409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F4B045C8-F95D-DE2B-080C-E1F797F12CF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1C85318E-5284-87DC-7BDB-2A714A26963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435B9E73-C5F3-6B07-88BE-82634782ACC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E34E06B4-DF61-6F6F-0209-EC0DBDDFE6E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7BB8BFFD-5B9F-7541-4534-2597C885D82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5F4649C7-AA56-9B6F-681E-6F294F3668E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0D7D4B50-E2FE-2D9B-E870-4A7B78CEFBC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3B9E6148-83D6-7BE8-1AC2-4F6D021AC0D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86DFDED2-A95A-2722-FE65-CD9B780E95C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A06F5853-807F-04A1-8AA9-A31B4FB6C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DE2DEB95-9506-82D2-8E69-0B8CE6442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D0632A8D-CD9C-1863-ABD1-6B526F4D570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F530D2B4-883D-6100-D6A3-D4815D52FD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EE42675B-9F87-03EC-2D3E-E259CA6623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89607F10-3CEE-944F-813D-B858DD273C6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A428526-B16C-1127-929B-C238595ADF1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886700" cy="1143000"/>
          </a:xfrm>
        </p:spPr>
        <p:txBody>
          <a:bodyPr/>
          <a:lstStyle/>
          <a:p>
            <a:pPr eaLnBrk="1" hangingPunct="1"/>
            <a:r>
              <a:rPr lang="en-US" altLang="ko-KR" sz="3200" b="1" dirty="0"/>
              <a:t>Lecture 7-4: </a:t>
            </a:r>
            <a:br>
              <a:rPr lang="en-US" altLang="ko-KR" sz="3200" b="1" dirty="0"/>
            </a:br>
            <a:r>
              <a:rPr lang="en-US" altLang="ko-KR" sz="3200" b="1" dirty="0"/>
              <a:t>Miscellaneous Concepts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4040C14C-A6F8-7BDB-F2BB-34BDC6E41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en-US" altLang="ko-KR" b="1" u="sng" dirty="0">
                <a:cs typeface="Courier New" panose="02070309020205020404" pitchFamily="49" charset="0"/>
              </a:rPr>
              <a:t>Functor</a:t>
            </a:r>
            <a:endParaRPr lang="ko-KR" altLang="en-US" b="1" u="sng" dirty="0">
              <a:cs typeface="Courier New" panose="02070309020205020404" pitchFamily="49" charset="0"/>
            </a:endParaRPr>
          </a:p>
        </p:txBody>
      </p:sp>
      <p:sp>
        <p:nvSpPr>
          <p:cNvPr id="4099" name="내용 개체 틀 3">
            <a:extLst>
              <a:ext uri="{FF2B5EF4-FFF2-40B4-BE49-F238E27FC236}">
                <a16:creationId xmlns:a16="http://schemas.microsoft.com/office/drawing/2014/main" id="{B2EB5B6F-8433-50B0-6DB0-E2B0841C1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2"/>
          </a:xfrm>
        </p:spPr>
        <p:txBody>
          <a:bodyPr/>
          <a:lstStyle/>
          <a:p>
            <a:r>
              <a:rPr lang="en-US" altLang="ko-KR" sz="2400" dirty="0"/>
              <a:t>Functor (function object) </a:t>
            </a:r>
            <a:endParaRPr lang="en-US" altLang="ko-KR" sz="2000" dirty="0"/>
          </a:p>
          <a:p>
            <a:pPr lvl="1"/>
            <a:r>
              <a:rPr lang="en-US" altLang="ko-KR" sz="2000" dirty="0"/>
              <a:t>object of a C++ class that overloads operator(). </a:t>
            </a:r>
          </a:p>
          <a:p>
            <a:pPr lvl="1"/>
            <a:r>
              <a:rPr lang="en-US" altLang="ko-KR" sz="2000" dirty="0"/>
              <a:t>You can use functor just like a function or a function pointer.</a:t>
            </a:r>
          </a:p>
          <a:p>
            <a:pPr lvl="1"/>
            <a:r>
              <a:rPr lang="en-US" altLang="ko-KR" sz="2000" dirty="0"/>
              <a:t>Often used in STL Algorithm.</a:t>
            </a:r>
          </a:p>
          <a:p>
            <a:endParaRPr lang="en-US" altLang="ko-KR" sz="2400" dirty="0"/>
          </a:p>
          <a:p>
            <a:r>
              <a:rPr lang="en-US" altLang="ko-KR" sz="2400" dirty="0"/>
              <a:t>Syntax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class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public: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returntype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operator() (…) {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// function body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}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};</a:t>
            </a:r>
          </a:p>
          <a:p>
            <a:pPr marL="0" indent="0">
              <a:buNone/>
            </a:pP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1349-531D-F484-2BAC-E8AB1B25D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7768"/>
            <a:ext cx="8229600" cy="1143000"/>
          </a:xfrm>
        </p:spPr>
        <p:txBody>
          <a:bodyPr/>
          <a:lstStyle/>
          <a:p>
            <a:r>
              <a:rPr lang="en-US" altLang="ko-Kore-KR" b="1" u="sng" dirty="0"/>
              <a:t>f</a:t>
            </a:r>
            <a:r>
              <a:rPr kumimoji="1" lang="en-US" altLang="ko-Kore-KR" b="1" u="sng" dirty="0"/>
              <a:t>unction example for STL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0F1DC4-216A-7322-6983-F3D882AC6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/>
          <a:lstStyle/>
          <a:p>
            <a:r>
              <a:rPr lang="en-US" altLang="ko-KR" sz="1600" dirty="0"/>
              <a:t>Example using function pointer: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myfunction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(int x) { return (x+3); }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main() {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 = {1,2,3,4,5};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int n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)/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[0]);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transform(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arr,arr+n,arr,myfunction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&lt;&lt; “ “ 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ko-K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myfunction</a:t>
            </a:r>
            <a:r>
              <a:rPr lang="en-US" altLang="ko-K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(100)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0;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 : 4 5 6 7 8 </a:t>
            </a:r>
            <a:r>
              <a:rPr lang="en-US" altLang="ko-K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103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kumimoji="1" lang="en-US" altLang="ko-Kore-KR" sz="1600" dirty="0"/>
          </a:p>
          <a:p>
            <a:pPr marL="0" indent="0">
              <a:buNone/>
            </a:pPr>
            <a:r>
              <a:rPr lang="en-US" altLang="ko-Kore-KR" sz="1600" dirty="0"/>
              <a:t>	</a:t>
            </a:r>
            <a:endParaRPr kumimoji="1" lang="en-US" altLang="ko-Kore-KR" sz="1600" dirty="0"/>
          </a:p>
        </p:txBody>
      </p:sp>
    </p:spTree>
    <p:extLst>
      <p:ext uri="{BB962C8B-B14F-4D97-AF65-F5344CB8AC3E}">
        <p14:creationId xmlns:p14="http://schemas.microsoft.com/office/powerpoint/2010/main" val="135860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1349-531D-F484-2BAC-E8AB1B25D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7768"/>
            <a:ext cx="8229600" cy="1143000"/>
          </a:xfrm>
        </p:spPr>
        <p:txBody>
          <a:bodyPr/>
          <a:lstStyle/>
          <a:p>
            <a:r>
              <a:rPr kumimoji="1" lang="en-US" altLang="ko-Kore-KR" b="1" u="sng" dirty="0"/>
              <a:t>functor example for STL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0F1DC4-216A-7322-6983-F3D882AC6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r>
              <a:rPr lang="en-US" altLang="ko-KR" sz="1600" dirty="0"/>
              <a:t>Example using functor: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class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int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public: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 n) :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(n) {}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int operator() (int x) { 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return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x+val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}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main() {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myfunctor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(3);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 = {1,2,3,4,5};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int n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)/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[0]);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transform(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arr,arr+n,arr,myfunctor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&lt;&lt; “ “ 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ko-KR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myfunctor</a:t>
            </a:r>
            <a:r>
              <a:rPr lang="en-US" altLang="ko-K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(100)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0;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 : 4 5 6 7 8 </a:t>
            </a:r>
            <a:r>
              <a:rPr lang="en-US" altLang="ko-KR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103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kumimoji="1" lang="en-US" altLang="ko-Kore-KR" sz="1600" dirty="0"/>
          </a:p>
          <a:p>
            <a:pPr marL="0" indent="0">
              <a:buNone/>
            </a:pPr>
            <a:r>
              <a:rPr lang="en-US" altLang="ko-Kore-KR" sz="1600" dirty="0"/>
              <a:t>	</a:t>
            </a:r>
            <a:endParaRPr kumimoji="1" lang="en-US" altLang="ko-Kore-KR" sz="1600" dirty="0"/>
          </a:p>
        </p:txBody>
      </p:sp>
    </p:spTree>
    <p:extLst>
      <p:ext uri="{BB962C8B-B14F-4D97-AF65-F5344CB8AC3E}">
        <p14:creationId xmlns:p14="http://schemas.microsoft.com/office/powerpoint/2010/main" val="401299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1349-531D-F484-2BAC-E8AB1B25D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7768"/>
            <a:ext cx="8229600" cy="1143000"/>
          </a:xfrm>
        </p:spPr>
        <p:txBody>
          <a:bodyPr/>
          <a:lstStyle/>
          <a:p>
            <a:r>
              <a:rPr kumimoji="1" lang="en-US" altLang="ko-Kore-KR" b="1" u="sng" dirty="0"/>
              <a:t>Functor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0F1DC4-216A-7322-6983-F3D882AC6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en-US" altLang="ko-KR" sz="1600" dirty="0"/>
              <a:t> To use the functor: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myfunctor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myfunctor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(…);</a:t>
            </a:r>
          </a:p>
          <a:p>
            <a:endParaRPr kumimoji="1" lang="en-US" altLang="ko-Kore-KR" sz="1600" dirty="0"/>
          </a:p>
          <a:p>
            <a:r>
              <a:rPr lang="en-US" altLang="ko-Kore-KR" sz="1600" b="1" dirty="0">
                <a:effectLst/>
              </a:rPr>
              <a:t>The line     :   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MyFunctor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(10); </a:t>
            </a:r>
          </a:p>
          <a:p>
            <a:pPr marL="0" indent="0">
              <a:buNone/>
            </a:pPr>
            <a:r>
              <a:rPr lang="en-US" altLang="ko-Kore-KR" sz="1600" b="1" dirty="0">
                <a:effectLst/>
              </a:rPr>
              <a:t>     Is same as</a:t>
            </a:r>
            <a:r>
              <a:rPr lang="en-US" altLang="ko-Kore-KR" sz="1600" dirty="0"/>
              <a:t> :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MyFunctor.operator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()(10);</a:t>
            </a:r>
          </a:p>
          <a:p>
            <a:endParaRPr kumimoji="1" lang="en-US" altLang="ko-Kore-KR" sz="1600" dirty="0"/>
          </a:p>
          <a:p>
            <a:r>
              <a:rPr lang="en-US" altLang="ko-Kore-KR" sz="1600" b="1" dirty="0">
                <a:effectLst/>
              </a:rPr>
              <a:t>transform2.cpp </a:t>
            </a:r>
            <a:endParaRPr kumimoji="1" lang="en-US" altLang="ko-Kore-KR" sz="1600" dirty="0"/>
          </a:p>
          <a:p>
            <a:pPr lvl="1"/>
            <a:r>
              <a:rPr lang="en-US" altLang="ko-Kore-KR" sz="1600" b="1" dirty="0">
                <a:effectLst/>
              </a:rPr>
              <a:t>The line:</a:t>
            </a:r>
            <a:r>
              <a:rPr lang="en-US" altLang="ko-Kore-KR" sz="1600" dirty="0"/>
              <a:t>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transform(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arr+n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increment(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to_add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</a:p>
          <a:p>
            <a:pPr marL="0" indent="0">
              <a:buNone/>
            </a:pPr>
            <a:endParaRPr lang="en-US" altLang="ko-Kore-KR" sz="1600" b="1" dirty="0"/>
          </a:p>
          <a:p>
            <a:pPr marL="0" indent="0">
              <a:buNone/>
            </a:pPr>
            <a:r>
              <a:rPr lang="en-US" altLang="ko-Kore-KR" sz="1600" b="1" dirty="0"/>
              <a:t>           I</a:t>
            </a:r>
            <a:r>
              <a:rPr lang="en-US" altLang="ko-Kore-KR" sz="1600" b="1" dirty="0">
                <a:effectLst/>
              </a:rPr>
              <a:t>s the same as writing below two lines,</a:t>
            </a:r>
            <a:r>
              <a:rPr lang="en-US" altLang="ko-Kore-KR" sz="1600" dirty="0"/>
              <a:t>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Creating object of increment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increment obj(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to_add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Calling () on object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transform(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arr+n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obj); </a:t>
            </a:r>
            <a:endParaRPr kumimoji="1" lang="ko-Kore-KR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41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49BE2AFA-F045-D1AE-11D1-B22DFFE7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 dirty="0"/>
              <a:t>Example (Functor)</a:t>
            </a:r>
            <a:endParaRPr lang="ko-KR" altLang="en-US" sz="4000" b="1" u="sng" dirty="0"/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2A1E37E9-5BD0-D335-E978-23E68F057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3200" dirty="0"/>
              <a:t>In our class webpage,</a:t>
            </a:r>
          </a:p>
          <a:p>
            <a:pPr lvl="1"/>
            <a:r>
              <a:rPr lang="en-US" altLang="ko-KR" sz="2400" dirty="0"/>
              <a:t>functor1.cpp </a:t>
            </a:r>
          </a:p>
          <a:p>
            <a:pPr lvl="1"/>
            <a:r>
              <a:rPr lang="en-US" altLang="ko-KR" sz="2400" dirty="0"/>
              <a:t>transform2.cpp</a:t>
            </a:r>
          </a:p>
          <a:p>
            <a:endParaRPr lang="ko-KR" alt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110D7-529E-3351-FA84-4B250021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useful C++11 Features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68154F-B19F-4036-4EF8-D1E28CD10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b="1" dirty="0"/>
              <a:t>auto , </a:t>
            </a:r>
            <a:r>
              <a:rPr kumimoji="1" lang="en-US" altLang="ko-Kore-KR" b="1" dirty="0" err="1"/>
              <a:t>decltype</a:t>
            </a:r>
            <a:endParaRPr kumimoji="1" lang="en-US" altLang="ko-Kore-KR" b="1" dirty="0"/>
          </a:p>
          <a:p>
            <a:r>
              <a:rPr lang="en-US" altLang="ko-Kore-KR" b="1" dirty="0"/>
              <a:t>range-based for loop </a:t>
            </a:r>
          </a:p>
          <a:p>
            <a:r>
              <a:rPr lang="en-US" altLang="ko-Kore-KR" b="1" dirty="0"/>
              <a:t>lambda function</a:t>
            </a:r>
          </a:p>
          <a:p>
            <a:r>
              <a:rPr lang="en-US" altLang="ko-Kore-KR" dirty="0">
                <a:solidFill>
                  <a:schemeClr val="bg2"/>
                </a:solidFill>
              </a:rPr>
              <a:t>move semantics (and move constructor)</a:t>
            </a:r>
          </a:p>
          <a:p>
            <a:r>
              <a:rPr lang="en-US" altLang="ko-Kore-KR" dirty="0">
                <a:solidFill>
                  <a:schemeClr val="bg2"/>
                </a:solidFill>
              </a:rPr>
              <a:t>smart pointer</a:t>
            </a:r>
          </a:p>
          <a:p>
            <a:r>
              <a:rPr lang="en-US" altLang="ko-Kore-KR" dirty="0">
                <a:solidFill>
                  <a:schemeClr val="bg2"/>
                </a:solidFill>
              </a:rPr>
              <a:t>multithreading</a:t>
            </a:r>
          </a:p>
          <a:p>
            <a:endParaRPr lang="en-US" altLang="ko-Kore-KR" dirty="0"/>
          </a:p>
        </p:txBody>
      </p:sp>
    </p:spTree>
    <p:extLst>
      <p:ext uri="{BB962C8B-B14F-4D97-AF65-F5344CB8AC3E}">
        <p14:creationId xmlns:p14="http://schemas.microsoft.com/office/powerpoint/2010/main" val="3522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7D1DF2-041E-07D5-39A2-A71C277B2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>
                <a:solidFill>
                  <a:schemeClr val="tx1"/>
                </a:solidFill>
              </a:rPr>
              <a:t>auto</a:t>
            </a:r>
            <a:endParaRPr kumimoji="1" lang="ko-Kore-KR" altLang="en-US" b="1" u="sng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5DD9F7-8706-DA8F-DB3A-A07C8E704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" y="1600200"/>
            <a:ext cx="9155360" cy="4525963"/>
          </a:xfrm>
        </p:spPr>
        <p:txBody>
          <a:bodyPr/>
          <a:lstStyle/>
          <a:p>
            <a:r>
              <a:rPr kumimoji="1" lang="en-US" altLang="ko-Kore-KR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</a:p>
          <a:p>
            <a:pPr lvl="1"/>
            <a:r>
              <a:rPr lang="en-US" altLang="ko-Kore-KR" dirty="0"/>
              <a:t>type of variable is automatically deduced</a:t>
            </a:r>
          </a:p>
          <a:p>
            <a:pPr marL="457200" lvl="1" indent="0">
              <a:buNone/>
            </a:pPr>
            <a:endParaRPr lang="en-US" altLang="ko-Kore-KR" dirty="0"/>
          </a:p>
          <a:p>
            <a:pPr marL="457200" lvl="1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 a = 3;    </a:t>
            </a:r>
          </a:p>
          <a:p>
            <a:pPr marL="457200" lvl="1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 b = 5.21;</a:t>
            </a:r>
          </a:p>
          <a:p>
            <a:pPr marL="457200" lvl="1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 c = a;</a:t>
            </a:r>
          </a:p>
          <a:p>
            <a:pPr marL="457200" lvl="1" indent="0">
              <a:buNone/>
            </a:pPr>
            <a:endParaRPr lang="en-US" altLang="ko-Kore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(vector&lt;int&gt;::iterator it=</a:t>
            </a: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vec.begin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();it!=</a:t>
            </a: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vec.end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();it++) </a:t>
            </a:r>
          </a:p>
          <a:p>
            <a:pPr marL="457200" lvl="1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*it &lt;&lt; </a:t>
            </a: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endParaRPr lang="en-US" altLang="ko-Kore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(auto it=</a:t>
            </a: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vec.begin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();it!=</a:t>
            </a: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vec.end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();it++) </a:t>
            </a:r>
          </a:p>
          <a:p>
            <a:pPr marL="457200" lvl="1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*it &lt;&lt; </a:t>
            </a: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endParaRPr lang="en-US" altLang="ko-Kore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kumimoji="1" lang="en-US" altLang="ko-Kore-KR" dirty="0"/>
          </a:p>
          <a:p>
            <a:pPr marL="457200" lvl="1" indent="0">
              <a:buNone/>
            </a:pPr>
            <a:endParaRPr lang="en-US" altLang="ko-Kore-KR" dirty="0"/>
          </a:p>
          <a:p>
            <a:pPr marL="457200" lvl="1" indent="0">
              <a:buNone/>
            </a:pPr>
            <a:endParaRPr kumimoji="1" lang="en-US" altLang="ko-Kore-KR" dirty="0"/>
          </a:p>
        </p:txBody>
      </p:sp>
    </p:spTree>
    <p:extLst>
      <p:ext uri="{BB962C8B-B14F-4D97-AF65-F5344CB8AC3E}">
        <p14:creationId xmlns:p14="http://schemas.microsoft.com/office/powerpoint/2010/main" val="2796382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79BCB-3A55-B02E-C991-B783BD08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 err="1">
                <a:solidFill>
                  <a:schemeClr val="tx1"/>
                </a:solidFill>
              </a:rPr>
              <a:t>decltype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A9B8FA-D7DD-C217-AB60-81C924BC7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extracts type from variable</a:t>
            </a:r>
          </a:p>
          <a:p>
            <a:endParaRPr lang="en-US" altLang="ko-Kore-KR" dirty="0"/>
          </a:p>
          <a:p>
            <a:r>
              <a:rPr kumimoji="1" lang="en-US" altLang="ko-Kore-KR" dirty="0"/>
              <a:t>Example</a:t>
            </a:r>
          </a:p>
          <a:p>
            <a:pPr marL="457200" lvl="1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a = 5;</a:t>
            </a:r>
          </a:p>
          <a:p>
            <a:pPr marL="457200" lvl="1" indent="0">
              <a:buNone/>
            </a:pP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1"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ecltype</a:t>
            </a:r>
            <a:r>
              <a:rPr kumimoji="1"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 b = a + 7;</a:t>
            </a:r>
            <a:endParaRPr kumimoji="1" lang="ko-Kore-KR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629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594E8-7C2F-632B-23B3-82D4FBEF1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kumimoji="1" lang="en-US" altLang="ko-Kore-KR" b="1" u="sng" dirty="0"/>
              <a:t>range-based for loop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028E1B-499E-D5E2-9E07-1821E97D9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6512" y="991269"/>
            <a:ext cx="9577064" cy="4525963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ko-Kore-KR" sz="1600" b="1" dirty="0">
                <a:latin typeface="Gulim" panose="020B0600000101010101" pitchFamily="34" charset="-127"/>
                <a:ea typeface="Gulim" panose="020B0600000101010101" pitchFamily="34" charset="-127"/>
              </a:rPr>
              <a:t>Executes a for loop over a range from beginning to end</a:t>
            </a:r>
          </a:p>
          <a:p>
            <a:pPr marL="457200" lvl="1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(vector&lt;int&gt;::iterator it=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vec.begin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();it!=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vec.end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();it++) </a:t>
            </a: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*it &lt;&lt;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(int x: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x &lt;&lt;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(auto x: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       // copy occurs</a:t>
            </a: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x &lt;&lt;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(auto&amp; x: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      // no copy, modification of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possible</a:t>
            </a: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x &lt;&lt;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(const auto&amp; x: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 // no copy, no modification</a:t>
            </a: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x &lt;&lt;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867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AC13D-7DF1-CDCE-3530-30CD40EE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Lambda Function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BEC151-73D0-37D1-6227-62B3B5974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25963"/>
          </a:xfrm>
        </p:spPr>
        <p:txBody>
          <a:bodyPr/>
          <a:lstStyle/>
          <a:p>
            <a:r>
              <a:rPr kumimoji="1" lang="en-US" altLang="ko-Kore-KR" sz="2800" dirty="0"/>
              <a:t>An anonymous function object</a:t>
            </a:r>
            <a:r>
              <a:rPr lang="en-US" altLang="ko-Kore-KR" sz="2800" dirty="0"/>
              <a:t> </a:t>
            </a:r>
          </a:p>
          <a:p>
            <a:endParaRPr lang="en-US" altLang="ko-Kore-KR" sz="2800" dirty="0"/>
          </a:p>
          <a:p>
            <a:r>
              <a:rPr lang="en-US" altLang="ko-Kore-KR" sz="2800" dirty="0"/>
              <a:t>At the location where it is invoked or passed as an argument to a function</a:t>
            </a:r>
          </a:p>
          <a:p>
            <a:endParaRPr kumimoji="1" lang="en-US" altLang="ko-Kore-KR" sz="2800" dirty="0"/>
          </a:p>
          <a:p>
            <a:r>
              <a:rPr kumimoji="1" lang="en-US" altLang="ko-Kore-KR" sz="2800" dirty="0"/>
              <a:t>Not reused, Do not require a function name</a:t>
            </a:r>
          </a:p>
          <a:p>
            <a:endParaRPr lang="en-US" altLang="ko-Kore-KR" sz="2800" dirty="0"/>
          </a:p>
          <a:p>
            <a:r>
              <a:rPr lang="en-US" altLang="ko-Kore-KR" sz="2800" dirty="0"/>
              <a:t>Normally used to encapsulate a few lines of code that are passed to algorithms</a:t>
            </a:r>
          </a:p>
        </p:txBody>
      </p:sp>
    </p:spTree>
    <p:extLst>
      <p:ext uri="{BB962C8B-B14F-4D97-AF65-F5344CB8AC3E}">
        <p14:creationId xmlns:p14="http://schemas.microsoft.com/office/powerpoint/2010/main" val="1936567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BCE3A-43CE-43D5-62BF-8E12D2E63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Lambda Function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9EE4F-C273-FA63-99A9-65544AA6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600200"/>
            <a:ext cx="8507288" cy="4525963"/>
          </a:xfrm>
        </p:spPr>
        <p:txBody>
          <a:bodyPr/>
          <a:lstStyle/>
          <a:p>
            <a:r>
              <a:rPr lang="en-US" altLang="ko-KR" dirty="0"/>
              <a:t>Useful for </a:t>
            </a:r>
            <a:r>
              <a:rPr lang="en-US" altLang="ko-KR" b="1" dirty="0">
                <a:solidFill>
                  <a:srgbClr val="FF0000"/>
                </a:solidFill>
              </a:rPr>
              <a:t>s</a:t>
            </a:r>
            <a:r>
              <a:rPr kumimoji="1" lang="en-US" altLang="ko-KR" b="1" dirty="0">
                <a:solidFill>
                  <a:srgbClr val="FF0000"/>
                </a:solidFill>
              </a:rPr>
              <a:t>hort</a:t>
            </a:r>
            <a:r>
              <a:rPr kumimoji="1" lang="en-US" altLang="ko-KR" dirty="0"/>
              <a:t>, </a:t>
            </a:r>
            <a:r>
              <a:rPr kumimoji="1" lang="en-US" altLang="ko-KR" b="1" dirty="0">
                <a:solidFill>
                  <a:srgbClr val="FF0000"/>
                </a:solidFill>
              </a:rPr>
              <a:t>t</a:t>
            </a:r>
            <a:r>
              <a:rPr lang="en-US" altLang="ko-KR" b="1" dirty="0">
                <a:solidFill>
                  <a:srgbClr val="FF0000"/>
                </a:solidFill>
              </a:rPr>
              <a:t>emporary</a:t>
            </a:r>
            <a:r>
              <a:rPr lang="en-US" altLang="ko-KR" dirty="0"/>
              <a:t>, or </a:t>
            </a:r>
            <a:r>
              <a:rPr lang="en-US" altLang="ko-KR" b="1" dirty="0">
                <a:solidFill>
                  <a:srgbClr val="FF0000"/>
                </a:solidFill>
              </a:rPr>
              <a:t>one-time-use functions</a:t>
            </a:r>
            <a:r>
              <a:rPr lang="en-US" altLang="ko-KR" dirty="0"/>
              <a:t>, especially when working with</a:t>
            </a:r>
          </a:p>
          <a:p>
            <a:pPr lvl="1"/>
            <a:r>
              <a:rPr kumimoji="1" lang="en-US" altLang="ko-KR" dirty="0"/>
              <a:t>STL algorithms (e.g. sort, </a:t>
            </a:r>
            <a:r>
              <a:rPr lang="en-US" altLang="ko-KR" dirty="0"/>
              <a:t>transform, etc.)</a:t>
            </a:r>
          </a:p>
          <a:p>
            <a:pPr lvl="1"/>
            <a:r>
              <a:rPr kumimoji="1" lang="en-US" altLang="ko-KR" dirty="0"/>
              <a:t>Threads</a:t>
            </a:r>
          </a:p>
          <a:p>
            <a:pPr lvl="1"/>
            <a:r>
              <a:rPr lang="en-US" altLang="ko-KR" dirty="0"/>
              <a:t>Callbacks or event handlers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142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93C6E-806D-7A63-729C-E51210C6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Lambda Function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335884-1D8F-F90B-8104-0724DD653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686800" cy="4525963"/>
          </a:xfrm>
        </p:spPr>
        <p:txBody>
          <a:bodyPr/>
          <a:lstStyle/>
          <a:p>
            <a:r>
              <a:rPr kumimoji="1" lang="en-US" altLang="ko-Kore-KR" dirty="0"/>
              <a:t>typical form of a lambda function:</a:t>
            </a:r>
          </a:p>
          <a:p>
            <a:pPr marL="0" indent="0">
              <a:buNone/>
            </a:pPr>
            <a:r>
              <a:rPr lang="en-US" altLang="ko-Kore-KR" sz="2000" dirty="0"/>
              <a:t>   ( </a:t>
            </a:r>
            <a:r>
              <a:rPr lang="en-US" altLang="ko-Kore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“-&gt; </a:t>
            </a:r>
            <a:r>
              <a:rPr lang="en-US" altLang="ko-Kore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return_type</a:t>
            </a:r>
            <a:r>
              <a:rPr lang="en-US" altLang="ko-Kore-KR" sz="2000" dirty="0"/>
              <a:t>” may not be necessary. ) </a:t>
            </a:r>
            <a:endParaRPr kumimoji="1" lang="en-US" altLang="ko-Kore-KR" sz="2000" dirty="0"/>
          </a:p>
          <a:p>
            <a:pPr marL="0" indent="0">
              <a:buNone/>
            </a:pPr>
            <a:r>
              <a:rPr lang="en-US" altLang="ko-Kore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 capture clause ] (parameters) -&gt; </a:t>
            </a: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return_type</a:t>
            </a:r>
            <a:endParaRPr lang="en-US" altLang="ko-Kore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marL="0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definition of method</a:t>
            </a:r>
          </a:p>
          <a:p>
            <a:pPr marL="0" indent="0">
              <a:buNone/>
            </a:pPr>
            <a:r>
              <a:rPr kumimoji="1"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kumimoji="1" lang="en-US" altLang="ko-Kore-KR" dirty="0"/>
          </a:p>
          <a:p>
            <a:endParaRPr kumimoji="1" lang="en-US" altLang="ko-Kore-KR" dirty="0"/>
          </a:p>
          <a:p>
            <a:r>
              <a:rPr kumimoji="1" lang="en-US" altLang="ko-Kore-KR" dirty="0"/>
              <a:t>Example  (lambda1.cpp)</a:t>
            </a:r>
            <a:endParaRPr lang="en-US" altLang="ko-Kore-KR" dirty="0"/>
          </a:p>
          <a:p>
            <a:pPr marL="0" indent="0" algn="l" rtl="0" fontAlgn="base">
              <a:buNone/>
            </a:pPr>
            <a:r>
              <a:rPr lang="en-US" altLang="ko-Kore-KR" sz="1600" b="1" i="0" dirty="0">
                <a:solidFill>
                  <a:srgbClr val="27323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vector&lt;int&gt; v={4, 1, 3, 5, 2, 3, 1, 7}</a:t>
            </a:r>
          </a:p>
          <a:p>
            <a:pPr marL="0" indent="0" algn="l" rtl="0" fontAlgn="base">
              <a:buNone/>
            </a:pPr>
            <a:r>
              <a:rPr lang="en-US" altLang="ko-Kore-KR" sz="1600" b="1" i="0" dirty="0">
                <a:solidFill>
                  <a:srgbClr val="27323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sort(</a:t>
            </a:r>
            <a:r>
              <a:rPr lang="en-US" altLang="ko-Kore-KR" sz="1600" b="1" i="0" dirty="0" err="1">
                <a:solidFill>
                  <a:srgbClr val="27323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v.begin</a:t>
            </a:r>
            <a:r>
              <a:rPr lang="en-US" altLang="ko-Kore-KR" sz="1600" b="1" i="0" dirty="0">
                <a:solidFill>
                  <a:srgbClr val="27323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altLang="ko-Kore-KR" sz="1600" b="1" i="0" dirty="0" err="1">
                <a:solidFill>
                  <a:srgbClr val="27323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v.end</a:t>
            </a:r>
            <a:r>
              <a:rPr lang="en-US" altLang="ko-Kore-KR" sz="1600" b="1" i="0" dirty="0">
                <a:solidFill>
                  <a:srgbClr val="27323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(), [](const int&amp; a, const int&amp; b) -&gt; bool</a:t>
            </a:r>
          </a:p>
          <a:p>
            <a:pPr marL="0" indent="0" algn="l" rtl="0" fontAlgn="base">
              <a:buNone/>
            </a:pPr>
            <a:r>
              <a:rPr lang="en-US" altLang="ko-Kore-KR" sz="1600" b="1" i="0" dirty="0">
                <a:solidFill>
                  <a:srgbClr val="27323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l" rtl="0" fontAlgn="base">
              <a:buNone/>
            </a:pPr>
            <a:r>
              <a:rPr lang="en-US" altLang="ko-Kore-KR" sz="1600" b="1" i="0" dirty="0">
                <a:solidFill>
                  <a:srgbClr val="27323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return a &gt; b;</a:t>
            </a:r>
          </a:p>
          <a:p>
            <a:pPr marL="0" indent="0" algn="l" rtl="0" fontAlgn="base">
              <a:buNone/>
            </a:pPr>
            <a:r>
              <a:rPr lang="en-US" altLang="ko-Kore-KR" sz="1600" b="1" i="0" dirty="0">
                <a:solidFill>
                  <a:srgbClr val="27323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pPr marL="0" indent="0">
              <a:buNone/>
            </a:pP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360677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DA415-233E-4962-0248-22D2BDAA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Lambda Function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633CD2-EEA2-46C2-6C24-EEAA8C8DC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567333"/>
            <a:ext cx="9227368" cy="4525963"/>
          </a:xfrm>
        </p:spPr>
        <p:txBody>
          <a:bodyPr/>
          <a:lstStyle/>
          <a:p>
            <a:r>
              <a:rPr lang="en-US" altLang="ko-KR" dirty="0"/>
              <a:t>Lambda function can capture local variables</a:t>
            </a:r>
            <a:endParaRPr kumimoji="1" lang="en-US" altLang="ko-KR" dirty="0"/>
          </a:p>
          <a:p>
            <a:pPr lvl="1"/>
            <a:r>
              <a:rPr lang="en-US" altLang="ko-KR" dirty="0"/>
              <a:t>capture by value</a:t>
            </a:r>
          </a:p>
          <a:p>
            <a:pPr lvl="1"/>
            <a:endParaRPr kumimoji="1" lang="en-US" altLang="ko-KR" dirty="0"/>
          </a:p>
          <a:p>
            <a:pPr lvl="1"/>
            <a:r>
              <a:rPr lang="en-US" altLang="ko-KR" dirty="0"/>
              <a:t>capture by reference</a:t>
            </a:r>
          </a:p>
          <a:p>
            <a:pPr lvl="1"/>
            <a:endParaRPr kumimoji="1" lang="en-US" altLang="ko-KR" dirty="0"/>
          </a:p>
          <a:p>
            <a:pPr lvl="1"/>
            <a:r>
              <a:rPr lang="en-US" altLang="ko-KR" dirty="0"/>
              <a:t>capture all by value: [=]</a:t>
            </a:r>
          </a:p>
          <a:p>
            <a:pPr lvl="1"/>
            <a:endParaRPr kumimoji="1" lang="en-US" altLang="ko-KR" dirty="0"/>
          </a:p>
          <a:p>
            <a:pPr lvl="1"/>
            <a:r>
              <a:rPr lang="en-US" altLang="ko-KR" dirty="0"/>
              <a:t>capture all by reference</a:t>
            </a:r>
          </a:p>
          <a:p>
            <a:pPr lvl="1"/>
            <a:endParaRPr kumimoji="1" lang="en-US" altLang="ko-KR" dirty="0"/>
          </a:p>
          <a:p>
            <a:pPr lvl="1"/>
            <a:r>
              <a:rPr lang="en-US" altLang="ko-KR" dirty="0"/>
              <a:t>mixed capture 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0597E-913D-3C98-17F9-A4B571DEFD78}"/>
              </a:ext>
            </a:extLst>
          </p:cNvPr>
          <p:cNvSpPr txBox="1"/>
          <p:nvPr/>
        </p:nvSpPr>
        <p:spPr>
          <a:xfrm>
            <a:off x="4644008" y="2204864"/>
            <a:ext cx="3888432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a = 10;</a:t>
            </a:r>
          </a:p>
          <a:p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 f = [a]() {return a+1;};</a:t>
            </a:r>
            <a:endParaRPr kumimoji="1" lang="ko-KR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B9E3F-1919-E162-340F-5580FCF76ABD}"/>
              </a:ext>
            </a:extLst>
          </p:cNvPr>
          <p:cNvSpPr txBox="1"/>
          <p:nvPr/>
        </p:nvSpPr>
        <p:spPr>
          <a:xfrm>
            <a:off x="4644008" y="3265820"/>
            <a:ext cx="3888432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 f = [&amp;a]() { a++;};</a:t>
            </a:r>
            <a:endParaRPr kumimoji="1" lang="ko-KR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D99D4-AB07-6FBC-DF76-4307AD0F9289}"/>
              </a:ext>
            </a:extLst>
          </p:cNvPr>
          <p:cNvSpPr txBox="1"/>
          <p:nvPr/>
        </p:nvSpPr>
        <p:spPr>
          <a:xfrm>
            <a:off x="4644008" y="4509120"/>
            <a:ext cx="3888432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 f = [=]() { return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;};</a:t>
            </a:r>
            <a:endParaRPr kumimoji="1" lang="ko-KR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59D22-58FE-0ED1-EC3B-A26CAE810270}"/>
              </a:ext>
            </a:extLst>
          </p:cNvPr>
          <p:cNvSpPr txBox="1"/>
          <p:nvPr/>
        </p:nvSpPr>
        <p:spPr>
          <a:xfrm>
            <a:off x="4644008" y="5425479"/>
            <a:ext cx="3888432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 f = [&amp;]() { sum+=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;};</a:t>
            </a:r>
            <a:endParaRPr kumimoji="1" lang="ko-KR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DCCEF-E652-4FF9-6782-54137973EA52}"/>
              </a:ext>
            </a:extLst>
          </p:cNvPr>
          <p:cNvSpPr txBox="1"/>
          <p:nvPr/>
        </p:nvSpPr>
        <p:spPr>
          <a:xfrm>
            <a:off x="4644008" y="6073551"/>
            <a:ext cx="3888432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auto f = [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x,&amp;y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]() { y+=x; };</a:t>
            </a:r>
            <a:endParaRPr kumimoji="1" lang="ko-KR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848421"/>
      </p:ext>
    </p:extLst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4889</TotalTime>
  <Words>965</Words>
  <Application>Microsoft Macintosh PowerPoint</Application>
  <PresentationFormat>화면 슬라이드 쇼(4:3)</PresentationFormat>
  <Paragraphs>166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굴림</vt:lpstr>
      <vt:lpstr>굴림</vt:lpstr>
      <vt:lpstr>맑은 고딕</vt:lpstr>
      <vt:lpstr>Arial</vt:lpstr>
      <vt:lpstr>Courier New</vt:lpstr>
      <vt:lpstr>Wingdings</vt:lpstr>
      <vt:lpstr>네모의 미</vt:lpstr>
      <vt:lpstr>Lecture 7-4:  Miscellaneous Concepts</vt:lpstr>
      <vt:lpstr>Functor</vt:lpstr>
      <vt:lpstr>function example for STL</vt:lpstr>
      <vt:lpstr>functor example for STL</vt:lpstr>
      <vt:lpstr>Functor</vt:lpstr>
      <vt:lpstr>Example (Functor)</vt:lpstr>
      <vt:lpstr>useful C++11 Features</vt:lpstr>
      <vt:lpstr>auto</vt:lpstr>
      <vt:lpstr>decltype</vt:lpstr>
      <vt:lpstr>range-based for loop</vt:lpstr>
      <vt:lpstr>Lambda Function</vt:lpstr>
      <vt:lpstr>Lambda Function</vt:lpstr>
      <vt:lpstr>Lambda Function</vt:lpstr>
      <vt:lpstr>Lambda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324</cp:revision>
  <dcterms:created xsi:type="dcterms:W3CDTF">2008-03-06T00:32:01Z</dcterms:created>
  <dcterms:modified xsi:type="dcterms:W3CDTF">2025-12-02T09:18:06Z</dcterms:modified>
</cp:coreProperties>
</file>